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0D41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6EDF3"/>
                </a:solidFill>
              </a:defRPr>
            </a:pPr>
            <a:r>
              <a:t>GitHub Copilot Security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EDF3"/>
                </a:solidFill>
              </a:defRPr>
            </a:pPr>
            <a:r>
              <a:t>Answering Every Question About Data Residency,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58A6FF"/>
                </a:solidFill>
              </a:defRPr>
            </a:pPr>
            <a:r>
              <a:t>Secrets, Logs, Sessions &amp; PII Protection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383280"/>
            <a:ext cx="45720" cy="3200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3375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6EDF3"/>
                </a:solidFill>
              </a:defRPr>
            </a:pPr>
            <a:r>
              <a:t>Where does my prompt data go and how long is it retained?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840480"/>
            <a:ext cx="45720" cy="3200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7947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6EDF3"/>
                </a:solidFill>
              </a:defRPr>
            </a:pPr>
            <a:r>
              <a:t>Can Copilot see my database and secrets?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297680"/>
            <a:ext cx="45720" cy="3200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2519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6EDF3"/>
                </a:solidFill>
              </a:defRPr>
            </a:pPr>
            <a:r>
              <a:t>Are instruction files (.md) reliable for security?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754880"/>
            <a:ext cx="45720" cy="3200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7091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6EDF3"/>
                </a:solidFill>
              </a:defRPr>
            </a:pPr>
            <a:r>
              <a:t>What's in the debug logs and session history?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5212080"/>
            <a:ext cx="45720" cy="3200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5166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6EDF3"/>
                </a:solidFill>
              </a:defRPr>
            </a:pPr>
            <a:r>
              <a:t>What happens when Copilot makes MCP tool calls?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5669280"/>
            <a:ext cx="45720" cy="3200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56235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6EDF3"/>
                </a:solidFill>
              </a:defRPr>
            </a:pPr>
            <a:r>
              <a:t>Live demos with real proof at every step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</a:defRPr>
            </a:pPr>
            <a:r>
              <a:t>Prepared for Customer Security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58A6FF"/>
                </a:solidFill>
              </a:defRPr>
            </a:pPr>
            <a:r>
              <a:t>github.com/sautalwar/ghcopilot-pii-demo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0D41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6EDF3"/>
                </a:solidFill>
              </a:defRPr>
            </a:pPr>
            <a:r>
              <a:t>Agenda — What We'll Cover Today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10515600" cy="59436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45720" cy="41148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234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58A6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2070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EDF3"/>
                </a:solidFill>
              </a:defRPr>
            </a:pPr>
            <a:r>
              <a:t>Data Flow &amp; Residency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49047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</a:defRPr>
            </a:pPr>
            <a:r>
              <a:t>Where does your prompt go? End-to-end journey through every component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280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B949E"/>
                </a:solidFill>
              </a:defRPr>
            </a:pPr>
            <a:r>
              <a:t>10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47088"/>
            <a:ext cx="10515600" cy="59436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938528"/>
            <a:ext cx="45720" cy="41148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892807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58A6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86537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EDF3"/>
                </a:solidFill>
              </a:defRPr>
            </a:pPr>
            <a:r>
              <a:t>Database &amp; PII Isolation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1488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</a:defRPr>
            </a:pPr>
            <a:r>
              <a:t>Proof that Copilot cannot see runtime database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193852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B949E"/>
                </a:solidFill>
              </a:defRPr>
            </a:pPr>
            <a:r>
              <a:t>15 min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505456"/>
            <a:ext cx="10515600" cy="59436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596896"/>
            <a:ext cx="45720" cy="41148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5511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58A6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252374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EDF3"/>
                </a:solidFill>
              </a:defRPr>
            </a:pPr>
            <a:r>
              <a:t>Secrets &amp; Environment Variables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280720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</a:defRPr>
            </a:pPr>
            <a:r>
              <a:t>How Copilot handles secrets in agent mode and MCP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259689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B949E"/>
                </a:solidFill>
              </a:defRPr>
            </a:pPr>
            <a:r>
              <a:t>10 min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163824"/>
            <a:ext cx="10515600" cy="59436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255264"/>
            <a:ext cx="45720" cy="41148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20954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58A6FF"/>
                </a:solidFill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31821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EDF3"/>
                </a:solidFill>
              </a:defRPr>
            </a:pPr>
            <a:r>
              <a:t>Instruction Files (.md) — The Truth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3465576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</a:defRPr>
            </a:pPr>
            <a:r>
              <a:t>Are they deterministic? What the data actually shows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325526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B949E"/>
                </a:solidFill>
              </a:defRPr>
            </a:pPr>
            <a:r>
              <a:t>10 min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822191"/>
            <a:ext cx="10515600" cy="59436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3913631"/>
            <a:ext cx="45720" cy="41148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3867911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58A6FF"/>
                </a:solidFill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384047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EDF3"/>
                </a:solidFill>
              </a:defRPr>
            </a:pPr>
            <a:r>
              <a:t>Debug Logs &amp; Session Storage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4123944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</a:defRPr>
            </a:pPr>
            <a:r>
              <a:t>What's stored locally, on GitHub servers, and for how long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3913631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B949E"/>
                </a:solidFill>
              </a:defRPr>
            </a:pPr>
            <a:r>
              <a:t>10 min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480559"/>
            <a:ext cx="10515600" cy="59436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4571999"/>
            <a:ext cx="45720" cy="41148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45262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58A6FF"/>
                </a:solidFill>
              </a:defRPr>
            </a:pPr>
            <a: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80160" y="4498847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EDF3"/>
                </a:solidFill>
              </a:defRPr>
            </a:pPr>
            <a:r>
              <a:t>Blast Radius Analysis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0160" y="478231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</a:defRPr>
            </a:pPr>
            <a:r>
              <a:t>If instructions fail, what's the actual impact?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457199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B949E"/>
                </a:solidFill>
              </a:defRPr>
            </a:pPr>
            <a:r>
              <a:t>10 min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138928"/>
            <a:ext cx="10515600" cy="59436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8640" y="5230368"/>
            <a:ext cx="45720" cy="41148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51846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58A6FF"/>
                </a:solidFill>
              </a:defRPr>
            </a:pPr>
            <a: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80160" y="515721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EDF3"/>
                </a:solidFill>
              </a:defRPr>
            </a:pPr>
            <a:r>
              <a:t>MCP Tool Calls &amp; Redaction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80160" y="54406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</a:defRPr>
            </a:pPr>
            <a:r>
              <a:t>Safe vs. unsafe patterns for AI-connected tools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0" y="52303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B949E"/>
                </a:solidFill>
              </a:defRPr>
            </a:pPr>
            <a:r>
              <a:t>10 min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5797296"/>
            <a:ext cx="10515600" cy="59436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48640" y="5888736"/>
            <a:ext cx="45720" cy="41148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7240" y="58430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58A6FF"/>
                </a:solidFill>
              </a:defRPr>
            </a:pPr>
            <a:r>
              <a:t>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5815583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EDF3"/>
                </a:solidFill>
              </a:defRPr>
            </a:pPr>
            <a:r>
              <a:t>Live Demo &amp; Q&amp;A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80160" y="609904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</a:defRPr>
            </a:pPr>
            <a:r>
              <a:t>Real-time proof with working application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0" y="588873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B949E"/>
                </a:solidFill>
              </a:defRPr>
            </a:pPr>
            <a:r>
              <a:t>15 min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0D41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6EDF3"/>
                </a:solidFill>
              </a:defRPr>
            </a:pPr>
            <a:r>
              <a:t>Your Questions — We Heard Every One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10515600" cy="566928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45720" cy="384048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6187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6EDF3"/>
                </a:solidFill>
              </a:defRPr>
            </a:pPr>
            <a:r>
              <a:t>"What if Copilot is making tool calls to search the data and extract it?"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47088"/>
            <a:ext cx="10515600" cy="566928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38528"/>
            <a:ext cx="45720" cy="384048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6EDF3"/>
                </a:solidFill>
              </a:defRPr>
            </a:pPr>
            <a:r>
              <a:t>"MD files are suggestions, not deterministic — only followed 50-80%"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505456"/>
            <a:ext cx="10515600" cy="566928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596896"/>
            <a:ext cx="45720" cy="384048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57860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6EDF3"/>
                </a:solidFill>
              </a:defRPr>
            </a:pPr>
            <a:r>
              <a:t>"Where does data end up in our debugging path, in the logs?"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163824"/>
            <a:ext cx="10515600" cy="566928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255264"/>
            <a:ext cx="45720" cy="384048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23697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6EDF3"/>
                </a:solidFill>
              </a:defRPr>
            </a:pPr>
            <a:r>
              <a:t>"What about prompt debugging logs that Microsoft captures?"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22191"/>
            <a:ext cx="10515600" cy="566928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913631"/>
            <a:ext cx="45720" cy="384048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9534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6EDF3"/>
                </a:solidFill>
              </a:defRPr>
            </a:pPr>
            <a:r>
              <a:t>"How long are web-based chat sessions and local sessions stored?"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480559"/>
            <a:ext cx="10515600" cy="566928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571999"/>
            <a:ext cx="45720" cy="384048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55371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6EDF3"/>
                </a:solidFill>
              </a:defRPr>
            </a:pPr>
            <a:r>
              <a:t>"When Copilot has a password or sensitive info, what's our exposure?"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8"/>
            <a:ext cx="10515600" cy="566928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230368"/>
            <a:ext cx="45720" cy="384048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6EDF3"/>
                </a:solidFill>
              </a:defRPr>
            </a:pPr>
            <a:r>
              <a:t>"Let's pretend instruction files get ignored — where does the data end up?"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797296"/>
            <a:ext cx="10515600" cy="566928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5888736"/>
            <a:ext cx="45720" cy="384048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87044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6EDF3"/>
                </a:solidFill>
              </a:defRPr>
            </a:pPr>
            <a:r>
              <a:t>"There's no auto expiration for local sessions"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FB950"/>
                </a:solidFill>
              </a:defRPr>
            </a:pPr>
            <a:r>
              <a:t>We'll answer EVERY question with live proof — not just slides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0D41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EDF3"/>
                </a:solidFill>
              </a:defRPr>
            </a:pPr>
            <a:r>
              <a:t>Where Does Your Prompt Go? — End-to-End Data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103120" cy="219456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10312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8A6FF"/>
                </a:solidFill>
              </a:defRPr>
            </a:pPr>
            <a:r>
              <a:t>1. Developer 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</a:defRPr>
            </a:pPr>
            <a:r>
              <a:t>You type in VS Code / CLI / Web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017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Your machine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188720"/>
            <a:ext cx="2103120" cy="219456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1188720"/>
            <a:ext cx="210312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325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8A6FF"/>
                </a:solidFill>
              </a:defRPr>
            </a:pPr>
            <a:r>
              <a:t>2. Copilot Extension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16916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</a:defRPr>
            </a:pPr>
            <a:r>
              <a:t>Packages context from open files</a:t>
            </a:r>
            <a:br/>
            <a:r>
              <a:t>Content exclusion applied 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3017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Your machine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1188720"/>
            <a:ext cx="2103120" cy="219456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1188720"/>
            <a:ext cx="2103120" cy="54864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1325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29922"/>
                </a:solidFill>
              </a:defRPr>
            </a:pPr>
            <a:r>
              <a:t>3. GitHub Proxy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16916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</a:defRPr>
            </a:pPr>
            <a:r>
              <a:t>copilot-proxy.githubusercontent.com</a:t>
            </a:r>
            <a:br/>
            <a:r>
              <a:t>TLS 1.2+ encrypted in transit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3017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GitHub infra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1188720"/>
            <a:ext cx="2103120" cy="219456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0" y="1188720"/>
            <a:ext cx="2103120" cy="54864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60" y="1325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883E"/>
                </a:solidFill>
              </a:defRPr>
            </a:pPr>
            <a:r>
              <a:t>4. Model Provider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16916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</a:defRPr>
            </a:pPr>
            <a:r>
              <a:t>Azure OpenAI or Anthropic</a:t>
            </a:r>
            <a:br/>
            <a:r>
              <a:t>Processes prompt, generates response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3017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Cloud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0" y="1188720"/>
            <a:ext cx="2103120" cy="219456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0" y="1188720"/>
            <a:ext cx="2103120" cy="5486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38360" y="1325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FB950"/>
                </a:solidFill>
              </a:defRPr>
            </a:pPr>
            <a:r>
              <a:t>5. Response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8360" y="16916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</a:defRPr>
            </a:pPr>
            <a:r>
              <a:t>Returned to your editor</a:t>
            </a:r>
            <a:br/>
            <a:r>
              <a:t>Prompt DISCARDED (Biz/Ent)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38360" y="3017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Your machine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657600"/>
            <a:ext cx="5303520" cy="27432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74903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</a:defRPr>
            </a:pPr>
            <a:r>
              <a:t>Key Facts — Retention by Provider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41605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EDF3"/>
                </a:solidFill>
              </a:defRPr>
            </a:pPr>
            <a:r>
              <a:t>Azure OpenAI (GPT models)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41605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29922"/>
                </a:solidFill>
              </a:defRPr>
            </a:pPr>
            <a:r>
              <a:t>30 days abuse monitoring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4160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</a:defRPr>
            </a:pPr>
            <a:r>
              <a:t>Enterprise opt-out available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50799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EDF3"/>
                </a:solidFill>
              </a:defRPr>
            </a:pPr>
            <a:r>
              <a:t>Anthropic (Claude Sonnet/Opus)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0" y="4507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FB950"/>
                </a:solidFill>
              </a:defRPr>
            </a:pPr>
            <a:r>
              <a:t>ZERO days — ZDR agreement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0" y="450799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</a:defRPr>
            </a:pPr>
            <a:r>
              <a:t>Nothing stored, ever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485546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EDF3"/>
                </a:solidFill>
              </a:defRPr>
            </a:pPr>
            <a:r>
              <a:t>GitHub servers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0" y="485546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FB950"/>
                </a:solidFill>
              </a:defRPr>
            </a:pPr>
            <a:r>
              <a:t>Prompts discarded after response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60" y="485546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</a:defRPr>
            </a:pPr>
            <a:r>
              <a:t>Business &amp; Enterprise plans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520293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EDF3"/>
                </a:solidFill>
              </a:defRPr>
            </a:pPr>
            <a:r>
              <a:t>github.com Web Chat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0" y="520293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29922"/>
                </a:solidFill>
              </a:defRPr>
            </a:pPr>
            <a:r>
              <a:t>30 days conversation history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80560" y="520293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</a:defRPr>
            </a:pPr>
            <a:r>
              <a:t>Auto-deleted, export available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55504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EDF3"/>
                </a:solidFill>
              </a:defRPr>
            </a:pPr>
            <a:r>
              <a:t>VS Code local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0" y="555040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883E"/>
                </a:solidFill>
              </a:defRPr>
            </a:pPr>
            <a:r>
              <a:t>Indefinite (no auto-expiry)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0560" y="555040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</a:defRPr>
            </a:pPr>
            <a:r>
              <a:t>Developer must manually clear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5897879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EDF3"/>
                </a:solidFill>
              </a:defRPr>
            </a:pPr>
            <a:r>
              <a:t>Usage metrics (not content)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0" y="589787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883E"/>
                </a:solidFill>
              </a:defRPr>
            </a:pPr>
            <a:r>
              <a:t>90 days rolling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80560" y="5897879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</a:defRPr>
            </a:pPr>
            <a:r>
              <a:t>Timestamps only, no prompts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035040" y="3657600"/>
            <a:ext cx="5669280" cy="27432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17920" y="374903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</a:defRPr>
            </a:pPr>
            <a:r>
              <a:t>How to Verify (Live Demo Commands)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4160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EDF3"/>
                </a:solidFill>
              </a:defRPr>
            </a:pPr>
            <a:r>
              <a:t>Prove single endpoint: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38160" y="41605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8A6FF"/>
                </a:solidFill>
              </a:defRPr>
            </a:pPr>
            <a:r>
              <a:t>nslookup copilot-proxy.githubusercontent.com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45079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EDF3"/>
                </a:solidFill>
              </a:defRPr>
            </a:pPr>
            <a:r>
              <a:t>Prove which model: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38160" y="450799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8A6FF"/>
                </a:solidFill>
              </a:defRPr>
            </a:pPr>
            <a:r>
              <a:t>DevTools → Network → x-model-version header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485546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EDF3"/>
                </a:solidFill>
              </a:defRPr>
            </a:pPr>
            <a:r>
              <a:t>Prove no DB calls: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85546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8A6FF"/>
                </a:solidFill>
              </a:defRPr>
            </a:pPr>
            <a:r>
              <a:t>DevTools → Network → zero copilot requests during query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63640" y="52029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EDF3"/>
                </a:solidFill>
              </a:defRPr>
            </a:pPr>
            <a:r>
              <a:t>Prove encryption: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38160" y="520293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8A6FF"/>
                </a:solidFill>
              </a:defRPr>
            </a:pPr>
            <a:r>
              <a:t>All requests use TLS 1.2+ (check Security tab)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63640" y="55504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EDF3"/>
                </a:solidFill>
              </a:defRPr>
            </a:pPr>
            <a:r>
              <a:t>Prove content exclusion: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38160" y="555040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8A6FF"/>
                </a:solidFill>
              </a:defRPr>
            </a:pPr>
            <a:r>
              <a:t>Open excluded file → slashed Copilot icon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63640" y="589787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EDF3"/>
                </a:solidFill>
              </a:defRPr>
            </a:pPr>
            <a:r>
              <a:t>Prove stateless: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38160" y="5897879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8A6FF"/>
                </a:solidFill>
              </a:defRPr>
            </a:pPr>
            <a:r>
              <a:t>Ask "What is pineapple42?" → Copilot has no idea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0D41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EDF3"/>
                </a:solidFill>
              </a:defRPr>
            </a:pPr>
            <a:r>
              <a:t>"Can Copilot See My Database?" — NO. Here's the Proof.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256032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</a:defRPr>
            </a:pPr>
            <a:r>
              <a:t>The Design-Time vs Runtime Boundary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FB950"/>
                </a:solidFill>
              </a:defRPr>
            </a:pPr>
            <a:r>
              <a:t>Copilot CAN See (Code)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</a:defRPr>
            </a:pPr>
            <a:r>
              <a:t>✓ Function names: getCitizenById()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40279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</a:defRPr>
            </a:pPr>
            <a:r>
              <a:t>✓ SQL patterns: SELECT * FROM citizens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146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</a:defRPr>
            </a:pPr>
            <a:r>
              <a:t>✓ Type definitions: interface Citizen { ssn: string 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889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</a:defRPr>
            </a:pPr>
            <a:r>
              <a:t>✓ Variable names: citizen.ssn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63239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</a:defRPr>
            </a:pPr>
            <a:r>
              <a:t>✓ Source code files (.ts, .js, .py)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691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5149"/>
                </a:solidFill>
              </a:defRPr>
            </a:pPr>
            <a:r>
              <a:t>Copilot CANNOT See (Data)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965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</a:defRPr>
            </a:pPr>
            <a:r>
              <a:t>✗ Actual citizen records in the 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24027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</a:defRPr>
            </a:pPr>
            <a:r>
              <a:t>✗ Query results (real SSNs, emails, phones)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514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</a:defRPr>
            </a:pPr>
            <a:r>
              <a:t>✗ Database file contents (.db, .sqlite)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788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</a:defRPr>
            </a:pPr>
            <a:r>
              <a:t>✗ Runtime environment variable VALUES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06323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</a:defRPr>
            </a:pPr>
            <a:r>
              <a:t>✗ In-memory application state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188720"/>
            <a:ext cx="5486400" cy="256032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</a:defRPr>
            </a:pPr>
            <a:r>
              <a:t>The Canary Test — Definitive Proof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1737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EDF3"/>
                </a:solidFill>
              </a:defRPr>
            </a:pPr>
            <a:r>
              <a:t>1. We seed a "sentinel" record: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011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8A6FF"/>
                </a:solidFill>
              </a:defRPr>
            </a:pPr>
            <a:r>
              <a:t>"Canary Testbird" — SSN: 000-00-0000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2860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EDF3"/>
                </a:solidFill>
              </a:defRPr>
            </a:pPr>
            <a:r>
              <a:t>2. Ask the application: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8A6FF"/>
                </a:solidFill>
              </a:defRPr>
            </a:pPr>
            <a:r>
              <a:t>Search for 'Canary' → FOUND instantly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83463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EDF3"/>
                </a:solidFill>
              </a:defRPr>
            </a:pPr>
            <a:r>
              <a:t>3. Ask Copilot: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1089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8A6FF"/>
                </a:solidFill>
              </a:defRPr>
            </a:pPr>
            <a:r>
              <a:t>"Is there a citizen named Canary Testbird?" → NO IDEA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38327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EDF3"/>
                </a:solidFill>
              </a:defRPr>
            </a:pPr>
            <a:r>
              <a:t>4. Conclusion: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657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8A6FF"/>
                </a:solidFill>
              </a:defRPr>
            </a:pPr>
            <a:r>
              <a:t>If Copilot could see DB data, it would know. It doesn't.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023360"/>
            <a:ext cx="11247120" cy="256032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114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</a:defRPr>
            </a:pPr>
            <a:r>
              <a:t>LIVE DEMO — Step by Step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5720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</a:defRPr>
            </a:pPr>
            <a:r>
              <a:t>Step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4572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EDF3"/>
                </a:solidFill>
              </a:defRPr>
            </a:pPr>
            <a:r>
              <a:t>Open http://localhost:3000/pii-demo.html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4846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</a:defRPr>
            </a:pPr>
            <a:r>
              <a:t>Click "Query Database (Raw)" → show full SSNs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45720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</a:defRPr>
            </a:pPr>
            <a:r>
              <a:t>Step 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4572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EDF3"/>
                </a:solidFill>
              </a:defRPr>
            </a:pPr>
            <a:r>
              <a:t>Click 'Query Database (Redacted)'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4846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</a:defRPr>
            </a:pPr>
            <a:r>
              <a:t>SSNs masked: ***-**-1234 — app-level redaction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59" y="45720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</a:defRPr>
            </a:pPr>
            <a:r>
              <a:t>Step 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39" y="4572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EDF3"/>
                </a:solidFill>
              </a:defRPr>
            </a:pPr>
            <a:r>
              <a:t>Open VS Code Chat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39" y="4846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</a:defRPr>
            </a:pPr>
            <a:r>
              <a:t>Ask: "What SSNs are in the citizens database?" → Copilot can't answer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5778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</a:defRPr>
            </a:pPr>
            <a:r>
              <a:t>Step 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80160" y="55778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EDF3"/>
                </a:solidFill>
              </a:defRPr>
            </a:pPr>
            <a:r>
              <a:t>Ask Copilot about code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80160" y="585215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</a:defRPr>
            </a:pPr>
            <a:r>
              <a:t>"What does getCitizenById do?" → Copilot describes the function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0" y="55778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</a:defRPr>
            </a:pPr>
            <a:r>
              <a:t>Step 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0" y="55778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EDF3"/>
                </a:solidFill>
              </a:defRPr>
            </a:pPr>
            <a:r>
              <a:t>Run the Canary Test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0" y="585215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</a:defRPr>
            </a:pPr>
            <a:r>
              <a:t>Click "Search for Canary" → app finds it. Ask Copilot → blank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38159" y="55778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</a:defRPr>
            </a:pPr>
            <a:r>
              <a:t>Step 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78239" y="55778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EDF3"/>
                </a:solidFill>
              </a:defRPr>
            </a:pPr>
            <a:r>
              <a:t>Open DevTools → Network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78239" y="585215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</a:defRPr>
            </a:pPr>
            <a:r>
              <a:t>Query the database → ZERO requests to copilot-proxy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0D41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6EDF3"/>
                </a:solidFill>
              </a:defRPr>
            </a:pPr>
            <a:r>
              <a:t>"MD Files Are Only Followed 50-80%" — What's True &amp; What's Not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27432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29922"/>
                </a:solidFill>
              </a:defRPr>
            </a:pPr>
            <a:r>
              <a:t>The Honest Answer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36576" cy="256032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099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FB950"/>
                </a:solidFill>
              </a:defRPr>
            </a:pPr>
            <a:r>
              <a:t>TRUE: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70992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</a:defRPr>
            </a:pPr>
            <a:r>
              <a:t>Instructions are probabilistic, not deterministic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84831"/>
            <a:ext cx="36576" cy="256032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0574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FB950"/>
                </a:solidFill>
              </a:defRPr>
            </a:pPr>
            <a:r>
              <a:t>TRUE: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0574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</a:defRPr>
            </a:pPr>
            <a:r>
              <a:t>Compliance drops with long/complex instruction files (&gt;4000 chars)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432304"/>
            <a:ext cx="36576" cy="256032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40487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FB950"/>
                </a:solidFill>
              </a:defRPr>
            </a:pPr>
            <a:r>
              <a:t>TRUE: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40487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</a:defRPr>
            </a:pPr>
            <a:r>
              <a:t>Too many instructions → model skips some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779776"/>
            <a:ext cx="36576" cy="256032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7523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29922"/>
                </a:solidFill>
              </a:defRPr>
            </a:pPr>
            <a:r>
              <a:t>PARTIALLY TRUE: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752344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</a:defRPr>
            </a:pPr>
            <a:r>
              <a:t>50-80% compliance claim — no peer-reviewed study confirms exact rate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127248"/>
            <a:ext cx="36576" cy="256032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09981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FB950"/>
                </a:solidFill>
              </a:defRPr>
            </a:pPr>
            <a:r>
              <a:t>TRUE: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3099816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</a:defRPr>
            </a:pPr>
            <a:r>
              <a:t>GitHub's own docs say behavior is 'non-deterministic'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474720"/>
            <a:ext cx="36576" cy="256032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4472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85149"/>
                </a:solidFill>
              </a:defRPr>
            </a:pPr>
            <a:r>
              <a:t>IMPORTANT: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344728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</a:defRPr>
            </a:pPr>
            <a:r>
              <a:t>Instructions are NOT a security boundary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188720"/>
            <a:ext cx="5486400" cy="27432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</a:defRPr>
            </a:pPr>
            <a:r>
              <a:t>What to Use Instead — Security Stack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1737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</a:defRPr>
            </a:pPr>
            <a:r>
              <a:t>Content Exclusion (org settings)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1737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FB950"/>
                </a:solidFill>
              </a:defRPr>
            </a:pPr>
            <a:r>
              <a:t>DETERMINISTIC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17373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FB950"/>
                </a:solidFill>
              </a:defRPr>
            </a:pPr>
            <a:r>
              <a:t>100%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2084831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</a:defRPr>
            </a:pPr>
            <a:r>
              <a:t>Secret Scanning + Push Protection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2084831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FB950"/>
                </a:solidFill>
              </a:defRPr>
            </a:pPr>
            <a:r>
              <a:t>DETERMINISTIC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2084831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FB950"/>
                </a:solidFill>
              </a:defRPr>
            </a:pPr>
            <a:r>
              <a:t>100%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243230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</a:defRPr>
            </a:pPr>
            <a:r>
              <a:t>.copilotignore file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24323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FB950"/>
                </a:solidFill>
              </a:defRPr>
            </a:pPr>
            <a:r>
              <a:t>DETERMINISTIC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24323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FB950"/>
                </a:solidFill>
              </a:defRPr>
            </a:pPr>
            <a:r>
              <a:t>100%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277977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</a:defRPr>
            </a:pPr>
            <a:r>
              <a:t>Environment Scoping (agent mode)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277977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FB950"/>
                </a:solidFill>
              </a:defRPr>
            </a:pPr>
            <a:r>
              <a:t>DETERMINISTIC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40" y="277977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FB950"/>
                </a:solidFill>
              </a:defRPr>
            </a:pPr>
            <a:r>
              <a:t>100%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31272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</a:defRPr>
            </a:pPr>
            <a:r>
              <a:t>copilot-instructions.md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0" y="31272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29922"/>
                </a:solidFill>
              </a:defRPr>
            </a:pPr>
            <a:r>
              <a:t>PROBABILISTIC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7040" y="31272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29922"/>
                </a:solidFill>
              </a:defRPr>
            </a:pPr>
            <a:r>
              <a:t>~70-90%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3474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</a:defRPr>
            </a:pPr>
            <a:r>
              <a:t>Prompt engineering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5440" y="3474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0883E"/>
                </a:solidFill>
              </a:defRPr>
            </a:pPr>
            <a:r>
              <a:t>PROBABILISTIC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07040" y="34747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883E"/>
                </a:solidFill>
              </a:defRPr>
            </a:pPr>
            <a:r>
              <a:t>~60-80%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4206240"/>
            <a:ext cx="11247120" cy="237744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" y="4206240"/>
            <a:ext cx="1124712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4343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8A6FF"/>
                </a:solidFill>
              </a:defRPr>
            </a:pPr>
            <a:r>
              <a:t>Key Takeaway for the Customer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4846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EDF3"/>
                </a:solidFill>
              </a:defRPr>
            </a:pPr>
            <a:r>
              <a:t>"The customer is RIGHT that instructions aren't 100% reliable. That's exactly why we NEVER rely on them for security.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53035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6EDF3"/>
                </a:solidFill>
              </a:defRPr>
            </a:pPr>
            <a:r>
              <a:t>We use DETERMINISTIC controls (content exclusion, secret scanning, environment scoping) for security.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5669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6EDF3"/>
                </a:solidFill>
              </a:defRPr>
            </a:pPr>
            <a:r>
              <a:t>Instructions are one LAYER of defense — not the only layer. Think seatbelt + airbag + crumple zone."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6217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FB950"/>
                </a:solidFill>
              </a:defRPr>
            </a:pPr>
            <a:r>
              <a:t>LIVE DEMO: Create instruction 'Never use console.log' → test 5x → show ~70-90% compliance → then show Content Exclusion at 100%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0D41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EDF3"/>
                </a:solidFill>
              </a:defRPr>
            </a:pPr>
            <a:r>
              <a:t>Complete Data Residency Map — What's Stored Where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1247120" cy="457200"/>
          </a:xfrm>
          <a:prstGeom prst="roundRect">
            <a:avLst/>
          </a:prstGeom>
          <a:solidFill>
            <a:srgbClr val="0D41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EDF3"/>
                </a:solidFill>
              </a:defRPr>
            </a:pPr>
            <a:r>
              <a:t>Location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11556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EDF3"/>
                </a:solidFill>
              </a:defRPr>
            </a:pPr>
            <a:r>
              <a:t>What's Stored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111556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EDF3"/>
                </a:solidFill>
              </a:defRPr>
            </a:pPr>
            <a:r>
              <a:t>Retention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1115568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EDF3"/>
                </a:solidFill>
              </a:defRPr>
            </a:pPr>
            <a:r>
              <a:t>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11556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EDF3"/>
                </a:solidFill>
              </a:defRPr>
            </a:pPr>
            <a:r>
              <a:t>How to Clear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27632"/>
            <a:ext cx="11247120" cy="429768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45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EDF3"/>
                </a:solidFill>
              </a:defRPr>
            </a:pPr>
            <a:r>
              <a:t>VS Code workspaceStorage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645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</a:defRPr>
            </a:pPr>
            <a:r>
              <a:t>Chat sessions (state.vscdb)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16459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883E"/>
                </a:solidFill>
              </a:defRPr>
            </a:pPr>
            <a:r>
              <a:t>Until deleted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16459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29922"/>
                </a:solidFill>
              </a:defRPr>
            </a:pPr>
            <a:r>
              <a:t>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1645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Delete file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084832"/>
            <a:ext cx="11247120" cy="429768"/>
          </a:xfrm>
          <a:prstGeom prst="roundRect">
            <a:avLst/>
          </a:prstGeom>
          <a:solidFill>
            <a:srgbClr val="1C2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EDF3"/>
                </a:solidFill>
              </a:defRPr>
            </a:pPr>
            <a:r>
              <a:t>VS Code Output Panel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</a:defRPr>
            </a:pPr>
            <a:r>
              <a:t>Debug logs (ephemeral)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2103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883E"/>
                </a:solidFill>
              </a:defRPr>
            </a:pPr>
            <a:r>
              <a:t>Until restart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21031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FB950"/>
                </a:solidFill>
              </a:defRPr>
            </a:pPr>
            <a:r>
              <a:t>NONE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Close panel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542032"/>
            <a:ext cx="11247120" cy="429768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560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EDF3"/>
                </a:solidFill>
              </a:defRPr>
            </a:pPr>
            <a:r>
              <a:t>VS Code logs folder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2560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</a:defRPr>
            </a:pPr>
            <a:r>
              <a:t>Extension logs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25603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</a:defRPr>
            </a:pPr>
            <a:r>
              <a:t>Rotated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2560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FB950"/>
                </a:solidFill>
              </a:defRPr>
            </a:pPr>
            <a:r>
              <a:t>NONE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2560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Delete folder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999232"/>
            <a:ext cx="11247120" cy="429768"/>
          </a:xfrm>
          <a:prstGeom prst="roundRect">
            <a:avLst/>
          </a:prstGeom>
          <a:solidFill>
            <a:srgbClr val="1C2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017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EDF3"/>
                </a:solidFill>
              </a:defRPr>
            </a:pPr>
            <a:r>
              <a:t>Shell history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3017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</a:defRPr>
            </a:pPr>
            <a:r>
              <a:t>CLI prompts (gh copilot)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0" y="3017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883E"/>
                </a:solidFill>
              </a:defRPr>
            </a:pPr>
            <a:r>
              <a:t>Until cleared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3017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29922"/>
                </a:solidFill>
              </a:defRPr>
            </a:pPr>
            <a:r>
              <a:t>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3017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Clear-History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456432"/>
            <a:ext cx="11247120" cy="429768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EDF3"/>
                </a:solidFill>
              </a:defRPr>
            </a:pPr>
            <a:r>
              <a:t>github.com Web Chat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08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</a:defRPr>
            </a:pPr>
            <a:r>
              <a:t>Conversations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0" y="3474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FB950"/>
                </a:solidFill>
              </a:defRPr>
            </a:pPr>
            <a:r>
              <a:t>30 days auto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0" y="34747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29922"/>
                </a:solidFill>
              </a:defRPr>
            </a:pPr>
            <a:r>
              <a:t>LOW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3474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Wait / export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3913632"/>
            <a:ext cx="11247120" cy="429768"/>
          </a:xfrm>
          <a:prstGeom prst="roundRect">
            <a:avLst/>
          </a:prstGeom>
          <a:solidFill>
            <a:srgbClr val="1C2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3931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EDF3"/>
                </a:solidFill>
              </a:defRPr>
            </a:pPr>
            <a:r>
              <a:t>GitHub Servers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26080" y="3931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</a:defRPr>
            </a:pPr>
            <a:r>
              <a:t>Usage metrics (NOT content)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03520" y="39319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FB950"/>
                </a:solidFill>
              </a:defRPr>
            </a:pPr>
            <a:r>
              <a:t>90 days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0880" y="39319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FB950"/>
                </a:solidFill>
              </a:defRPr>
            </a:pPr>
            <a:r>
              <a:t>NONE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63840" y="3931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Auto-expires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4370832"/>
            <a:ext cx="11247120" cy="429768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4389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EDF3"/>
                </a:solidFill>
              </a:defRPr>
            </a:pPr>
            <a:r>
              <a:t>Azure OpenAI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26080" y="4389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</a:defRPr>
            </a:pPr>
            <a:r>
              <a:t>Abuse monitoring prompts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03520" y="4389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FB950"/>
                </a:solidFill>
              </a:defRPr>
            </a:pPr>
            <a:r>
              <a:t>30 days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40880" y="43891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883E"/>
                </a:solidFill>
              </a:defRPr>
            </a:pPr>
            <a:r>
              <a:t>MED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0" y="4389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Opt-out available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4828032"/>
            <a:ext cx="11247120" cy="429768"/>
          </a:xfrm>
          <a:prstGeom prst="roundRect">
            <a:avLst/>
          </a:prstGeom>
          <a:solidFill>
            <a:srgbClr val="1C2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EDF3"/>
                </a:solidFill>
              </a:defRPr>
            </a:pPr>
            <a:r>
              <a:t>Anthropic (Claude)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92608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</a:defRPr>
            </a:pPr>
            <a:r>
              <a:t>NOTHING — Zero Data Retention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03520" y="48463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FB950"/>
                </a:solidFill>
              </a:defRPr>
            </a:pPr>
            <a:r>
              <a:t>0 days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40880" y="4846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FB950"/>
                </a:solidFill>
              </a:defRPr>
            </a:pPr>
            <a:r>
              <a:t>NONE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63840" y="4846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N/A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57200" y="5285232"/>
            <a:ext cx="11247120" cy="429768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" y="5303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EDF3"/>
                </a:solidFill>
              </a:defRPr>
            </a:pPr>
            <a:r>
              <a:t>MCP Server logs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926080" y="5303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</a:defRPr>
            </a:pPr>
            <a:r>
              <a:t>Tool I/O (your code)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303520" y="5303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</a:defRPr>
            </a:pPr>
            <a:r>
              <a:t>You decide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40880" y="5303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8A6FF"/>
                </a:solidFill>
              </a:defRPr>
            </a:pPr>
            <a:r>
              <a:t>YOU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63840" y="5303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Your responsibility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57200" y="5742432"/>
            <a:ext cx="11247120" cy="429768"/>
          </a:xfrm>
          <a:prstGeom prst="roundRect">
            <a:avLst/>
          </a:prstGeom>
          <a:solidFill>
            <a:srgbClr val="1C2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8640" y="5760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EDF3"/>
                </a:solidFill>
              </a:defRPr>
            </a:pPr>
            <a:r>
              <a:t>Local database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26080" y="5760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</a:defRPr>
            </a:pPr>
            <a:r>
              <a:t>Runtime app data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03520" y="5760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</a:defRPr>
            </a:pPr>
            <a:r>
              <a:t>Permanent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040880" y="57607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FB950"/>
                </a:solidFill>
              </a:defRPr>
            </a:pPr>
            <a:r>
              <a:t>NONE*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863840" y="5760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Delete file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</a:defRPr>
            </a:pPr>
            <a:r>
              <a:t>* "NONE" for database = Copilot has zero access to runtime data. Data never leaves your machine.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0D41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EDF3"/>
                </a:solidFill>
              </a:defRPr>
            </a:pPr>
            <a:r>
              <a:t>"What's in the Debug Logs?" — Exactly This, Nothing More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657600" cy="32004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FB950"/>
                </a:solidFill>
              </a:defRPr>
            </a:pPr>
            <a:r>
              <a:t>What IS in the Logs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</a:defRPr>
            </a:pPr>
            <a:r>
              <a:t>✓ Timestamps of requests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933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</a:defRPr>
            </a:pPr>
            <a:r>
              <a:t>✓ Request IDs (UUIDs)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9514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</a:defRPr>
            </a:pPr>
            <a:r>
              <a:t>✓ Model selection info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9689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</a:defRPr>
            </a:pPr>
            <a:r>
              <a:t>✓ Token counts (in/out)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986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</a:defRPr>
            </a:pPr>
            <a:r>
              <a:t>✓ Response latency (ms)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00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</a:defRPr>
            </a:pPr>
            <a:r>
              <a:t>✓ Error messages &amp; retries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5021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</a:defRPr>
            </a:pPr>
            <a:r>
              <a:t>✓ Extension activation events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0390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</a:defRPr>
            </a:pPr>
            <a:r>
              <a:t>✓ Feature usage flags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188720"/>
            <a:ext cx="3657600" cy="32004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280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5149"/>
                </a:solidFill>
              </a:defRPr>
            </a:pPr>
            <a:r>
              <a:t>What is NOT in the Logs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1691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</a:defRPr>
            </a:pPr>
            <a:r>
              <a:t>✗ Full prompt 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19933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</a:defRPr>
            </a:pPr>
            <a:r>
              <a:t>✗ Full response 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29514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</a:defRPr>
            </a:pPr>
            <a:r>
              <a:t>✗ Your source code content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259689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</a:defRPr>
            </a:pPr>
            <a:r>
              <a:t>✗ PII or secrets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28986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</a:defRPr>
            </a:pPr>
            <a:r>
              <a:t>✗ Database query results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3200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</a:defRPr>
            </a:pPr>
            <a:r>
              <a:t>✗ File contents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35021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</a:defRPr>
            </a:pPr>
            <a:r>
              <a:t>✗ Environment variable values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80390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</a:defRPr>
            </a:pPr>
            <a:r>
              <a:t>✗ Conversation history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1188720"/>
            <a:ext cx="3566160" cy="32004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A6FF"/>
                </a:solidFill>
              </a:defRPr>
            </a:pPr>
            <a:r>
              <a:t>How to Verify (Demo)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1691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8A6FF"/>
                </a:solidFill>
              </a:defRPr>
            </a:pPr>
            <a:r>
              <a:t>1. View → Output panel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19933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</a:defRPr>
            </a:pPr>
            <a:r>
              <a:t>2. Select "GitHub Copilot"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229514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</a:defRPr>
            </a:pPr>
            <a:r>
              <a:t>3. Ask Copilot a question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259689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</a:defRPr>
            </a:pPr>
            <a:r>
              <a:t>4. Read the log entries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28986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</a:defRPr>
            </a:pPr>
            <a:r>
              <a:t>5. Search for SSN pattern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3200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8A6FF"/>
                </a:solidFill>
              </a:defRPr>
            </a:pPr>
            <a:r>
              <a:t>   → Zero matches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35021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</a:defRPr>
            </a:pPr>
            <a:r>
              <a:t>6. Search for prompt text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380390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8A6FF"/>
                </a:solidFill>
              </a:defRPr>
            </a:pPr>
            <a:r>
              <a:t>   → Zero matches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663440"/>
            <a:ext cx="11247120" cy="192024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754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A6FF"/>
                </a:solidFill>
              </a:defRPr>
            </a:pPr>
            <a:r>
              <a:t>Log File Locations — Every Path on Disk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5166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EDF3"/>
                </a:solidFill>
              </a:defRPr>
            </a:pPr>
            <a:r>
              <a:t>VS Code Output (ephemeral)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17520" y="51663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8A6FF"/>
                </a:solidFill>
              </a:defRPr>
            </a:pPr>
            <a:r>
              <a:t>View → Output → 'GitHub Copilot'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0" y="5166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Until restart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5486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EDF3"/>
                </a:solidFill>
              </a:defRPr>
            </a:pPr>
            <a:r>
              <a:t>Extension Host Logs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17520" y="548640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8A6FF"/>
                </a:solidFill>
              </a:defRPr>
            </a:pPr>
            <a:r>
              <a:t>%APPDATA%\Code\logs\&lt;date&gt;\exthost\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18320" y="5486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Rotated by VS Code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5806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EDF3"/>
                </a:solidFill>
              </a:defRPr>
            </a:pPr>
            <a:r>
              <a:t>Chat Session Storage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17520" y="58064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8A6FF"/>
                </a:solidFill>
              </a:defRPr>
            </a:pPr>
            <a:r>
              <a:t>%APPDATA%\Code\User\workspaceStorage\&lt;id&gt;\state.vscdb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18320" y="5806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Until deleted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6126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EDF3"/>
                </a:solidFill>
              </a:defRPr>
            </a:pPr>
            <a:r>
              <a:t>PowerShell History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17520" y="612648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8A6FF"/>
                </a:solidFill>
              </a:defRPr>
            </a:pPr>
            <a:r>
              <a:t>(Get-PSReadLineOption).HistorySavePath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18320" y="6126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Until cleared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0D41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EDF3"/>
                </a:solidFill>
              </a:defRPr>
            </a:pPr>
            <a:r>
              <a:t>"When Copilot Has a Password — What's Our Exposure?"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566160" cy="22860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566160" cy="5486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FB950"/>
                </a:solidFill>
              </a:defRPr>
            </a:pPr>
            <a:r>
              <a:t>Scenario A: Copilot Chat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</a:defRPr>
            </a:pPr>
            <a:r>
              <a:t>Copilot reads code, not .env files</a:t>
            </a:r>
            <a:br/>
            <a:r>
              <a:t>(with content exclusion)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FB950"/>
                </a:solidFill>
              </a:defRPr>
            </a:pPr>
            <a:r>
              <a:t>ZERO exposure</a:t>
            </a:r>
            <a:br/>
            <a:r>
              <a:t>if .env excluded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188720"/>
            <a:ext cx="3566160" cy="22860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188720"/>
            <a:ext cx="3566160" cy="54864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29922"/>
                </a:solidFill>
              </a:defRPr>
            </a:pPr>
            <a:r>
              <a:t>Scenario B: Agent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7830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</a:defRPr>
            </a:pPr>
            <a:r>
              <a:t>Secrets only accessible if explicitly</a:t>
            </a:r>
            <a:br/>
            <a:r>
              <a:t>added to 'copilot' environment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6517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29922"/>
                </a:solidFill>
              </a:defRPr>
            </a:pPr>
            <a:r>
              <a:t>CONTROLLED</a:t>
            </a:r>
            <a:br/>
            <a:r>
              <a:t>by admin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188720"/>
            <a:ext cx="3566160" cy="22860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188720"/>
            <a:ext cx="3566160" cy="54864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883E"/>
                </a:solidFill>
              </a:defRPr>
            </a:pPr>
            <a:r>
              <a:t>Scenario C: MCP Tool Calls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7830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</a:defRPr>
            </a:pPr>
            <a:r>
              <a:t>Tool output enters conversation</a:t>
            </a:r>
            <a:br/>
            <a:r>
              <a:t>context — redact before returning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6517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883E"/>
                </a:solidFill>
              </a:defRPr>
            </a:pPr>
            <a:r>
              <a:t>YOUR tool design</a:t>
            </a:r>
            <a:br/>
            <a:r>
              <a:t>controls exposure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749039"/>
            <a:ext cx="11247120" cy="9144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749039"/>
            <a:ext cx="1124712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886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8A6FF"/>
                </a:solidFill>
              </a:defRPr>
            </a:pPr>
            <a:r>
              <a:t>"The blast radius of Copilot is the blast radius of the tools you give it."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2976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</a:defRPr>
            </a:pPr>
            <a:r>
              <a:t>Like giving keys to a contractor: Copilot never picks locks. You decide which keys to hand over.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846320"/>
            <a:ext cx="5486400" cy="18288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9377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5149"/>
                </a:solidFill>
              </a:defRPr>
            </a:pPr>
            <a:r>
              <a:t>❌ UNSAFE MCP Tool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25780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</a:defRPr>
            </a:pPr>
            <a:r>
              <a:t>server.tool("lookup_citizen", async ({id}) =&gt; {</a:t>
            </a:r>
            <a:br/>
            <a:r>
              <a:t>  const citizen = db.get(id);</a:t>
            </a:r>
            <a:br/>
            <a:r>
              <a:t>  return JSON.stringify(citizen);</a:t>
            </a:r>
            <a:br/>
            <a:r>
              <a:t>  // RAW SSN goes to Copilot context!</a:t>
            </a:r>
            <a:br/>
            <a:r>
              <a:t>});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846320"/>
            <a:ext cx="5486400" cy="18288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49377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FB950"/>
                </a:solidFill>
              </a:defRPr>
            </a:pPr>
            <a:r>
              <a:t>✅ SAFE MCP Tool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25780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</a:defRPr>
            </a:pPr>
            <a:r>
              <a:t>server.tool("lookup_citizen", async ({id}) =&gt; {</a:t>
            </a:r>
            <a:br/>
            <a:r>
              <a:t>  const citizen = db.get(id);</a:t>
            </a:r>
            <a:br/>
            <a:r>
              <a:t>  return JSON.stringify({</a:t>
            </a:r>
            <a:br/>
            <a:r>
              <a:t>    ...citizen, ssn: maskSSN(citizen.ssn)</a:t>
            </a:r>
            <a:br/>
            <a:r>
              <a:t>  }); // Only masked data reaches Copilot</a:t>
            </a:r>
            <a:br/>
            <a:r>
              <a:t>});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0D41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EDF3"/>
                </a:solidFill>
              </a:defRPr>
            </a:pPr>
            <a:r>
              <a:t>"If Instructions Are Ignored — Where Does the Data End Up?"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280160"/>
            <a:ext cx="2011680" cy="13716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2011680" cy="457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17319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</a:defRPr>
            </a:pPr>
            <a:r>
              <a:t>Developer types</a:t>
            </a:r>
            <a:br/>
            <a:r>
              <a:t>SSN in 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40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8A6FF"/>
                </a:solidFill>
              </a:defRPr>
            </a:pPr>
            <a:r>
              <a:t>Your machine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1280160"/>
            <a:ext cx="2011680" cy="13716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0" y="1280160"/>
            <a:ext cx="2011680" cy="4572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1417319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</a:defRPr>
            </a:pPr>
            <a:r>
              <a:t>Copilot Extension</a:t>
            </a:r>
            <a:br/>
            <a:r>
              <a:t>Content exclusion</a:t>
            </a:r>
            <a:br/>
            <a:r>
              <a:t>applied 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240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FB950"/>
                </a:solidFill>
              </a:defRPr>
            </a:pPr>
            <a:r>
              <a:t>Blocked if excluded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1280160"/>
            <a:ext cx="2011680" cy="13716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46320" y="1280160"/>
            <a:ext cx="2011680" cy="4572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59" y="1417319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</a:defRPr>
            </a:pPr>
            <a:r>
              <a:t>GitHub Proxy</a:t>
            </a:r>
            <a:br/>
            <a:r>
              <a:t>TLS 1.2+ encrypted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59" y="2240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29922"/>
                </a:solidFill>
              </a:defRPr>
            </a:pPr>
            <a:r>
              <a:t>In transit only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1280160"/>
            <a:ext cx="2011680" cy="13716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32320" y="1280160"/>
            <a:ext cx="2011680" cy="4572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59" y="1417319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</a:defRPr>
            </a:pPr>
            <a:r>
              <a:t>Model Provider</a:t>
            </a:r>
            <a:br/>
            <a:r>
              <a:t>Processes prompt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59" y="2240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0883E"/>
                </a:solidFill>
              </a:defRPr>
            </a:pPr>
            <a:r>
              <a:t>See retention table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18320" y="1280160"/>
            <a:ext cx="2011680" cy="13716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418320" y="1280160"/>
            <a:ext cx="2011680" cy="4572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0" y="1417319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</a:defRPr>
            </a:pPr>
            <a:r>
              <a:t>Response returned</a:t>
            </a:r>
            <a:br/>
            <a:r>
              <a:t>Prompt DISCARDED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2240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FB950"/>
                </a:solidFill>
              </a:defRPr>
            </a:pPr>
            <a:r>
              <a:t>Biz/Ent plans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1691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B949E"/>
                </a:solidFill>
              </a:defRPr>
            </a:pPr>
            <a: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1691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B949E"/>
                </a:solidFill>
              </a:defRPr>
            </a:pPr>
            <a: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1691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B949E"/>
                </a:solidFill>
              </a:defRPr>
            </a:pPr>
            <a: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1691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B949E"/>
                </a:solidFill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017520"/>
            <a:ext cx="11247120" cy="347472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108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</a:defRPr>
            </a:pPr>
            <a:r>
              <a:t>Risk Assessment — Even If Instructions Fail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3520440"/>
            <a:ext cx="11064240" cy="365760"/>
          </a:xfrm>
          <a:prstGeom prst="roundRect">
            <a:avLst/>
          </a:prstGeom>
          <a:solidFill>
            <a:srgbClr val="0D41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5478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</a:defRPr>
            </a:pPr>
            <a:r>
              <a:t>Risk Scenario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35478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</a:defRPr>
            </a:pPr>
            <a:r>
              <a:t>Probability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35478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</a:defRPr>
            </a:pPr>
            <a:r>
              <a:t>Impact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35478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</a:defRPr>
            </a:pPr>
            <a:r>
              <a:t>Mitigation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39319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</a:defRPr>
            </a:pPr>
            <a:r>
              <a:t>PII in code comment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0" y="39319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29922"/>
                </a:solidFill>
              </a:defRPr>
            </a:pPr>
            <a:r>
              <a:t>Medium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39319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</a:defRPr>
            </a:pPr>
            <a:r>
              <a:t>Low — discarded after response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3931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8A6FF"/>
                </a:solidFill>
              </a:defRPr>
            </a:pPr>
            <a:r>
              <a:t>Content exclusion, code review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43159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</a:defRPr>
            </a:pPr>
            <a:r>
              <a:t>Secret in .env file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83280" y="43159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FB950"/>
                </a:solidFill>
              </a:defRPr>
            </a:pPr>
            <a:r>
              <a:t>Low (if excluded)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43159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</a:defRPr>
            </a:pPr>
            <a:r>
              <a:t>Medium — rotate the secret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0" y="43159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8A6FF"/>
                </a:solidFill>
              </a:defRPr>
            </a:pPr>
            <a:r>
              <a:t>Content exclusion (100% block)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470001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</a:defRPr>
            </a:pPr>
            <a:r>
              <a:t>MCP tool returns raw PII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80" y="470001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29922"/>
                </a:solidFill>
              </a:defRPr>
            </a:pPr>
            <a:r>
              <a:t>Medium (if poor design)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0" y="470001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</a:defRPr>
            </a:pPr>
            <a:r>
              <a:t>Medium — in model context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69680" y="470001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8A6FF"/>
                </a:solidFill>
              </a:defRPr>
            </a:pPr>
            <a:r>
              <a:t>Redact inside the tool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508406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</a:defRPr>
            </a:pPr>
            <a:r>
              <a:t>SSN typed directly in prompt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83280" y="508406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29922"/>
                </a:solidFill>
              </a:defRPr>
            </a:pPr>
            <a:r>
              <a:t>Low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26480" y="508406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</a:defRPr>
            </a:pPr>
            <a:r>
              <a:t>Low — in transit only, discarded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69680" y="508406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8A6FF"/>
                </a:solidFill>
              </a:defRPr>
            </a:pPr>
            <a:r>
              <a:t>Developer training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54681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</a:defRPr>
            </a:pPr>
            <a:r>
              <a:t>Azure OpenAI 30-day log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83280" y="54681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FB950"/>
                </a:solidFill>
              </a:defRPr>
            </a:pPr>
            <a:r>
              <a:t>Low (opt-out avail)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26480" y="54681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</a:defRPr>
            </a:pPr>
            <a:r>
              <a:t>Low — encrypted, access-controlled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69680" y="54681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8A6FF"/>
                </a:solidFill>
              </a:defRPr>
            </a:pPr>
            <a:r>
              <a:t>Request Modified Abuse Monitoring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5852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</a:defRPr>
            </a:pPr>
            <a:r>
              <a:t>Local chat history persists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83280" y="5852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883E"/>
                </a:solidFill>
              </a:defRPr>
            </a:pPr>
            <a:r>
              <a:t>High (always stored)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26480" y="5852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</a:defRPr>
            </a:pPr>
            <a:r>
              <a:t>Low — local file, OS-protected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69680" y="5852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8A6FF"/>
                </a:solidFill>
              </a:defRPr>
            </a:pPr>
            <a:r>
              <a:t>Cleanup script + FDE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0D41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EDF3"/>
                </a:solidFill>
              </a:defRPr>
            </a:pPr>
            <a:r>
              <a:t>The 5-Layer Security Stack — Defense in Depth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0058400" cy="86868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" cy="868680"/>
          </a:xfrm>
          <a:prstGeom prst="rect">
            <a:avLst/>
          </a:prstGeom>
          <a:solidFill>
            <a:srgbClr val="E6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EDF3"/>
                </a:solidFill>
              </a:defRPr>
            </a:pPr>
            <a:r>
              <a:t>Layer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234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EDF3"/>
                </a:solidFill>
              </a:defRPr>
            </a:pPr>
            <a:r>
              <a:t>Human Code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600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</a:defRPr>
            </a:pPr>
            <a:r>
              <a:t>Final validation before merge — catches anything AI missed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1234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E6EDF3"/>
                </a:solidFill>
              </a:defRPr>
            </a:pPr>
            <a:r>
              <a:t>HUMAN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240280"/>
            <a:ext cx="9601200" cy="86868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240280"/>
            <a:ext cx="54864" cy="86868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2860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29922"/>
                </a:solidFill>
              </a:defRPr>
            </a:pPr>
            <a:r>
              <a:t>Layer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286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EDF3"/>
                </a:solidFill>
              </a:defRPr>
            </a:pPr>
            <a:r>
              <a:t>copilot-instructions.md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6517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</a:defRPr>
            </a:pPr>
            <a:r>
              <a:t>Probabilistic guidance — reduces unsafe suggestions ~70-90%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286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D29922"/>
                </a:solidFill>
              </a:defRPr>
            </a:pPr>
            <a:r>
              <a:t>PROBABILISTIC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291839"/>
            <a:ext cx="9144000" cy="86868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3291839"/>
            <a:ext cx="54864" cy="86868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33755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FB950"/>
                </a:solidFill>
              </a:defRPr>
            </a:pPr>
            <a:r>
              <a:t>Layer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333755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EDF3"/>
                </a:solidFill>
              </a:defRPr>
            </a:pPr>
            <a:r>
              <a:t>Secret Scanning + Push Protection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3703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</a:defRPr>
            </a:pPr>
            <a:r>
              <a:t>Catches secrets in commits — 200+ patterns, blocks before push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3375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3FB950"/>
                </a:solidFill>
              </a:defRPr>
            </a:pPr>
            <a:r>
              <a:t>DETERMINISTIC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43000" y="4343400"/>
            <a:ext cx="8686800" cy="86868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43000" y="4343400"/>
            <a:ext cx="54864" cy="86868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25880" y="4389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FB950"/>
                </a:solidFill>
              </a:defRPr>
            </a:pPr>
            <a:r>
              <a:t>Layer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4389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EDF3"/>
                </a:solidFill>
              </a:defRPr>
            </a:pPr>
            <a:r>
              <a:t>Environment Scoping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31720" y="47548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</a:defRPr>
            </a:pPr>
            <a:r>
              <a:t>Agent mode secrets isolated — must explicitly grant access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4389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3FB950"/>
                </a:solidFill>
              </a:defRPr>
            </a:pPr>
            <a:r>
              <a:t>DETERMINISTIC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71600" y="5394959"/>
            <a:ext cx="8229600" cy="86868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371600" y="5394959"/>
            <a:ext cx="54864" cy="86868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54480" y="544067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FB950"/>
                </a:solidFill>
              </a:defRPr>
            </a:pPr>
            <a:r>
              <a:t>Layer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60320" y="544067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EDF3"/>
                </a:solidFill>
              </a:defRPr>
            </a:pPr>
            <a:r>
              <a:t>Content Exclusion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60320" y="58064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</a:defRPr>
            </a:pPr>
            <a:r>
              <a:t>Platform-enforced file blocking — files NEVER reach the model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54406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3FB950"/>
                </a:solidFill>
              </a:defRPr>
            </a:pPr>
            <a:r>
              <a:t>DETERMINISTIC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371600" y="5852160"/>
            <a:ext cx="9144000" cy="4572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554480" y="589788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8A6FF"/>
                </a:solidFill>
              </a:defRPr>
            </a:pPr>
            <a:r>
              <a:t>Bottom line: Use deterministic controls for security. Instructions for convenience. Never rely on one layer alone.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0D41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EDF3"/>
                </a:solidFill>
              </a:defRPr>
            </a:pPr>
            <a:r>
              <a:t>Multi-Model Security — Claude Sonnet &amp; Opus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47120" cy="73152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45720" cy="54864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FB950"/>
                </a:solidFill>
              </a:defRPr>
            </a:pPr>
            <a:r>
              <a:t>Zero Data Retention (ZDR)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</a:defRPr>
            </a:pPr>
            <a:r>
              <a:t>Anthropic has ZDR agreement with Microsoft — prompts are NOT stored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11247120" cy="73152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03120"/>
            <a:ext cx="45720" cy="5486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57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8A6FF"/>
                </a:solidFill>
              </a:defRPr>
            </a:pPr>
            <a:r>
              <a:t>Microsoft Sub-Processor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</a:defRPr>
            </a:pPr>
            <a:r>
              <a:t>Anthropic became Microsoft sub-processor Jan 7, 2026 — governed by Microsoft DPA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834640"/>
            <a:ext cx="11247120" cy="73152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926080"/>
            <a:ext cx="45720" cy="54864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880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29922"/>
                </a:solidFill>
              </a:defRPr>
            </a:pPr>
            <a:r>
              <a:t>Disabled by Default (EU/EFTA/UK)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200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</a:defRPr>
            </a:pPr>
            <a:r>
              <a:t>Claude models must be explicitly enabled by admin in restricted regions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657600"/>
            <a:ext cx="11247120" cy="73152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749039"/>
            <a:ext cx="45720" cy="5486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703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8A6FF"/>
                </a:solidFill>
              </a:defRPr>
            </a:pPr>
            <a:r>
              <a:t>Context Windows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023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</a:defRPr>
            </a:pPr>
            <a:r>
              <a:t>Sonnet 4/4.6: 1,000,000 tokens | Opus: 200,000 tokens | GPT-4.1: 128,000 tokens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480560"/>
            <a:ext cx="11247120" cy="73152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572000"/>
            <a:ext cx="45720" cy="54864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526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FB950"/>
                </a:solidFill>
              </a:defRPr>
            </a:pPr>
            <a:r>
              <a:t>Same Proxy Endpoint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846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</a:defRPr>
            </a:pPr>
            <a:r>
              <a:t>All models route through copilot-proxy.githubusercontent.com — verify with x-model-version header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303520"/>
            <a:ext cx="11247120" cy="73152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5394959"/>
            <a:ext cx="45720" cy="54864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349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FB950"/>
                </a:solidFill>
              </a:defRPr>
            </a:pPr>
            <a:r>
              <a:t>No Training on Your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669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</a:defRPr>
            </a:pPr>
            <a:r>
              <a:t>Microsoft contractual guarantee — your code is never used to train any model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0D41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EDF3"/>
                </a:solidFill>
              </a:defRPr>
            </a:pPr>
            <a:r>
              <a:t>Live Demo Checklist — What We'll Prove Today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1247120" cy="475488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FB950"/>
                </a:solidFill>
              </a:defRPr>
            </a:pPr>
            <a: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EDF3"/>
                </a:solidFill>
              </a:defRPr>
            </a:pPr>
            <a:r>
              <a:t>Database Isolation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1430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</a:defRPr>
            </a:pPr>
            <a:r>
              <a:t>Query PII database → Copilot can't see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8A6FF"/>
                </a:solidFill>
              </a:defRPr>
            </a:pPr>
            <a:r>
              <a:t>pii-demo.html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11430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</a:defRPr>
            </a:pPr>
            <a:r>
              <a:t>15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27631"/>
            <a:ext cx="11247120" cy="475488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673351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FB950"/>
                </a:solidFill>
              </a:defRPr>
            </a:pPr>
            <a: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673351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EDF3"/>
                </a:solidFill>
              </a:defRPr>
            </a:pPr>
            <a:r>
              <a:t>Canary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1673351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</a:defRPr>
            </a:pPr>
            <a:r>
              <a:t>Sentinel record in DB → Copilot is blind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1673351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8A6FF"/>
                </a:solidFill>
              </a:defRPr>
            </a:pPr>
            <a:r>
              <a:t>pii-demo.html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1673351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</a:defRPr>
            </a:pPr>
            <a:r>
              <a:t>3 min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157984"/>
            <a:ext cx="11247120" cy="475488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203703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FB950"/>
                </a:solidFill>
              </a:defRPr>
            </a:pPr>
            <a:r>
              <a:t>3.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203703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EDF3"/>
                </a:solidFill>
              </a:defRPr>
            </a:pPr>
            <a:r>
              <a:t>Network Inspection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2203703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</a:defRPr>
            </a:pPr>
            <a:r>
              <a:t>DevTools shows zero copilot requests during DB queries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203703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8A6FF"/>
                </a:solidFill>
              </a:defRPr>
            </a:pPr>
            <a:r>
              <a:t>VS Code DevTools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2203703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</a:defRPr>
            </a:pPr>
            <a:r>
              <a:t>5 min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688335"/>
            <a:ext cx="11247120" cy="475488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734055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FB950"/>
                </a:solidFill>
              </a:defRPr>
            </a:pPr>
            <a:r>
              <a:t>4.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2734055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EDF3"/>
                </a:solidFill>
              </a:defRPr>
            </a:pPr>
            <a:r>
              <a:t>Debug Log Forensics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2734055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</a:defRPr>
            </a:pPr>
            <a:r>
              <a:t>Output panel shows metadata only, no prompts/PII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2734055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8A6FF"/>
                </a:solidFill>
              </a:defRPr>
            </a:pPr>
            <a:r>
              <a:t>VS Code 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2734055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</a:defRPr>
            </a:pPr>
            <a:r>
              <a:t>5 min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218687"/>
            <a:ext cx="11247120" cy="475488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264407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29922"/>
                </a:solidFill>
              </a:defRPr>
            </a:pPr>
            <a:r>
              <a:t>5.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3264407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EDF3"/>
                </a:solidFill>
              </a:defRPr>
            </a:pPr>
            <a:r>
              <a:t>Local Storage Audit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3280" y="3264407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</a:defRPr>
            </a:pPr>
            <a:r>
              <a:t>Find state.vscdb → show what's stored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3264407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8A6FF"/>
                </a:solidFill>
              </a:defRPr>
            </a:pPr>
            <a:r>
              <a:t>File Explorer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3264407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</a:defRPr>
            </a:pPr>
            <a:r>
              <a:t>5 min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749039"/>
            <a:ext cx="11247120" cy="475488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3794759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FB950"/>
                </a:solidFill>
              </a:defRPr>
            </a:pPr>
            <a:r>
              <a:t>6.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379475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EDF3"/>
                </a:solidFill>
              </a:defRPr>
            </a:pPr>
            <a:r>
              <a:t>Content Exclusion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80" y="379475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</a:defRPr>
            </a:pPr>
            <a:r>
              <a:t>Exclude .env → slashed icon → Copilot can't read 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379475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8A6FF"/>
                </a:solidFill>
              </a:defRPr>
            </a:pPr>
            <a:r>
              <a:t>VS Code + GitHub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379475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</a:defRPr>
            </a:pPr>
            <a:r>
              <a:t>5 min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4279392"/>
            <a:ext cx="11247120" cy="475488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432511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29922"/>
                </a:solidFill>
              </a:defRPr>
            </a:pPr>
            <a:r>
              <a:t>7.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" y="43251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EDF3"/>
                </a:solidFill>
              </a:defRPr>
            </a:pPr>
            <a:r>
              <a:t>Instruction Compliance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83280" y="43251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</a:defRPr>
            </a:pPr>
            <a:r>
              <a:t>Test .md rules 5x → show probabilistic nature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43251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8A6FF"/>
                </a:solidFill>
              </a:defRPr>
            </a:pPr>
            <a:r>
              <a:t>VS Code Chat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41280" y="43251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</a:defRPr>
            </a:pPr>
            <a:r>
              <a:t>10 min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4809744"/>
            <a:ext cx="11247120" cy="475488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4855464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</a:defRPr>
            </a:pPr>
            <a:r>
              <a:t>8.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485546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EDF3"/>
                </a:solidFill>
              </a:defRPr>
            </a:pPr>
            <a:r>
              <a:t>MCP Tool Redaction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83280" y="485546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</a:defRPr>
            </a:pPr>
            <a:r>
              <a:t>Safe vs unsafe tool code → side by side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0" y="485546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8A6FF"/>
                </a:solidFill>
              </a:defRPr>
            </a:pPr>
            <a:r>
              <a:t>Code walkthrough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41280" y="485546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</a:defRPr>
            </a:pPr>
            <a:r>
              <a:t>5 min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5340096"/>
            <a:ext cx="11247120" cy="475488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5385816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FB950"/>
                </a:solidFill>
              </a:defRPr>
            </a:pPr>
            <a:r>
              <a:t>9.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5840" y="538581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EDF3"/>
                </a:solidFill>
              </a:defRPr>
            </a:pPr>
            <a:r>
              <a:t>nslookup Proof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83280" y="538581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</a:defRPr>
            </a:pPr>
            <a:r>
              <a:t>All traffic → single Microsoft endpoint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72400" y="538581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8A6FF"/>
                </a:solidFill>
              </a:defRPr>
            </a:pPr>
            <a:r>
              <a:t>Terminal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41280" y="538581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</a:defRPr>
            </a:pPr>
            <a:r>
              <a:t>2 min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57200" y="5870448"/>
            <a:ext cx="11247120" cy="475488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" y="591616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FB950"/>
                </a:solidFill>
              </a:defRPr>
            </a:pPr>
            <a:r>
              <a:t>10.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5840" y="59161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EDF3"/>
                </a:solidFill>
              </a:defRPr>
            </a:pPr>
            <a:r>
              <a:t>Stateless Test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383280" y="591616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</a:defRPr>
            </a:pPr>
            <a:r>
              <a:t>Ask about pineapple42 → Copilot has no memory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72400" y="59161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8A6FF"/>
                </a:solidFill>
              </a:defRPr>
            </a:pPr>
            <a:r>
              <a:t>VS Code Chat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241280" y="59161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</a:defRPr>
            </a:pPr>
            <a:r>
              <a:t>2 min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FB950"/>
                </a:solidFill>
              </a:defRPr>
            </a:pPr>
            <a:r>
              <a:t>Total demo time: ~60 minutes  |  All demos run from http://localhost:3000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0D41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6EDF3"/>
                </a:solidFill>
              </a:defRPr>
            </a:pPr>
            <a:r>
              <a:t>Summary — Your Questions, Answered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1247120" cy="59436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45720" cy="438912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155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EDF3"/>
                </a:solidFill>
              </a:defRPr>
            </a:pPr>
            <a:r>
              <a:t>Can Copilot see my database?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1115568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FB950"/>
                </a:solidFill>
              </a:defRPr>
            </a:pPr>
            <a:r>
              <a:t>NO — proven by canary test &amp; network inspection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55648"/>
            <a:ext cx="11247120" cy="59436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45720" cy="438912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7393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EDF3"/>
                </a:solidFill>
              </a:defRPr>
            </a:pPr>
            <a:r>
              <a:t>Are .md files reliable for security?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1773936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29922"/>
                </a:solidFill>
              </a:defRPr>
            </a:pPr>
            <a:r>
              <a:t>NO — use deterministic controls (content exclusion, secret scanning)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14015"/>
            <a:ext cx="11247120" cy="59436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487168"/>
            <a:ext cx="45720" cy="438912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432303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EDF3"/>
                </a:solidFill>
              </a:defRPr>
            </a:pPr>
            <a:r>
              <a:t>Where do prompts go?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432303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FB950"/>
                </a:solidFill>
              </a:defRPr>
            </a:pPr>
            <a:r>
              <a:t>copilot-proxy → model → discarded. Claude: zero retention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072384"/>
            <a:ext cx="11247120" cy="59436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145536"/>
            <a:ext cx="45720" cy="438912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0906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EDF3"/>
                </a:solidFill>
              </a:defRPr>
            </a:pPr>
            <a:r>
              <a:t>What's in debug logs?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3090672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FB950"/>
                </a:solidFill>
              </a:defRPr>
            </a:pPr>
            <a:r>
              <a:t>Metadata only (timestamps, IDs). No prompts, no code, no PII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730752"/>
            <a:ext cx="11247120" cy="59436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803904"/>
            <a:ext cx="45720" cy="438912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74903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EDF3"/>
                </a:solidFill>
              </a:defRPr>
            </a:pPr>
            <a:r>
              <a:t>How long are sessions stored?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749039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29922"/>
                </a:solidFill>
              </a:defRPr>
            </a:pPr>
            <a:r>
              <a:t>Web: 30 days auto-delete. Local: until you delete. Implement cleanup policy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389120"/>
            <a:ext cx="11247120" cy="59436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462272"/>
            <a:ext cx="45720" cy="438912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407407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EDF3"/>
                </a:solidFill>
              </a:defRPr>
            </a:pPr>
            <a:r>
              <a:t>What if Copilot has a secret?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4407407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FB950"/>
                </a:solidFill>
              </a:defRPr>
            </a:pPr>
            <a:r>
              <a:t>Content exclusion blocks it. Agent mode requires explicit grants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047488"/>
            <a:ext cx="11247120" cy="59436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5120640"/>
            <a:ext cx="45720" cy="438912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06577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EDF3"/>
                </a:solidFill>
              </a:defRPr>
            </a:pPr>
            <a:r>
              <a:t>What about MCP tool calls?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0" y="5065776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29922"/>
                </a:solidFill>
              </a:defRPr>
            </a:pPr>
            <a:r>
              <a:t>You control the tool. Redact before returning data to Copilot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705856"/>
            <a:ext cx="11247120" cy="59436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5779008"/>
            <a:ext cx="45720" cy="438912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72414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EDF3"/>
                </a:solidFill>
              </a:defRPr>
            </a:pPr>
            <a:r>
              <a:t>What if instructions are ignored?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0" y="5724144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FB950"/>
                </a:solidFill>
              </a:defRPr>
            </a:pPr>
            <a:r>
              <a:t>Blast radius is limited: prompts discarded, data encrypted in transit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286000" y="5852160"/>
            <a:ext cx="7315200" cy="4572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286000" y="5852160"/>
            <a:ext cx="7315200" cy="5486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468880" y="594360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FB950"/>
                </a:solidFill>
              </a:defRPr>
            </a:pPr>
            <a:r>
              <a:t>Every answer backed by a live, repeatable demo you can run yourself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0D41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6EDF3"/>
                </a:solidFill>
              </a:defRPr>
            </a:pPr>
            <a:r>
              <a:t>Resources &amp;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1247120" cy="59436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6EDF3"/>
                </a:solidFill>
              </a:defRPr>
            </a:pPr>
            <a:r>
              <a:t>Demo Repository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325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8A6FF"/>
                </a:solidFill>
              </a:defRPr>
            </a:pPr>
            <a:r>
              <a:t>github.com/sautalwar/ghcopilot-pii-demo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5819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Clone, npm install, run locally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65960"/>
            <a:ext cx="11247120" cy="59436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1167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6EDF3"/>
                </a:solidFill>
              </a:defRPr>
            </a:pPr>
            <a:r>
              <a:t>PII Database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01167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8A6FF"/>
                </a:solidFill>
              </a:defRPr>
            </a:pPr>
            <a:r>
              <a:t>http://localhost:3000/pii-demo.html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2677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Canary test, network proof, redaction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651760"/>
            <a:ext cx="11247120" cy="59436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69747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6EDF3"/>
                </a:solidFill>
              </a:defRPr>
            </a:pPr>
            <a:r>
              <a:t>Data Residency 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69747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8A6FF"/>
                </a:solidFill>
              </a:defRPr>
            </a:pPr>
            <a:r>
              <a:t>http://localhost:3000/data-residency-demo.html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9535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Logs, sessions, storage map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337560"/>
            <a:ext cx="11247120" cy="59436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38327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6EDF3"/>
                </a:solidFill>
              </a:defRPr>
            </a:pPr>
            <a:r>
              <a:t>Main Demo Portal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38327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8A6FF"/>
                </a:solidFill>
              </a:defRPr>
            </a:pPr>
            <a:r>
              <a:t>http://localhost:3000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6393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All demos, GHAS, competitors, security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023360"/>
            <a:ext cx="11247120" cy="59436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069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6EDF3"/>
                </a:solidFill>
              </a:defRPr>
            </a:pPr>
            <a:r>
              <a:t>GitHub Docs: Content Exclusion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4069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8A6FF"/>
                </a:solidFill>
              </a:defRPr>
            </a:pPr>
            <a:r>
              <a:t>docs.github.com/en/copilot/concepts/context/content-exclusion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43251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Official documentation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709160"/>
            <a:ext cx="11247120" cy="59436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6EDF3"/>
                </a:solidFill>
              </a:defRPr>
            </a:pPr>
            <a:r>
              <a:t>GitHub Docs: Model Hosting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4754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8A6FF"/>
                </a:solidFill>
              </a:defRPr>
            </a:pPr>
            <a:r>
              <a:t>docs.github.com/en/copilot/reference/ai-models/model-hosting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50109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ZDR, data processing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6EDF3"/>
                </a:solidFill>
              </a:defRPr>
            </a:pPr>
            <a:r>
              <a:t>Thank you — Let's run the demos live.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949E"/>
                </a:solidFill>
              </a:defRPr>
            </a:pPr>
            <a:r>
              <a:t>All code is open source. Clone the repo and reproduce every proof yourself.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