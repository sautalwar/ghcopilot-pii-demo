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6" d="100"/>
          <a:sy n="106" d="100"/>
        </p:scale>
        <p:origin x="96" y="1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1519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we explore GitHub Advanced Security — a developer-first suite of security tools that helps you find and fix vulnerabilities directly in your development workflow.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GitHub Advanced Security is a suite of security tools designed to help developers find and fix vulnerabilities directly in their development workflow. The key word here is developer-first. These aren’t security tools that slow you down or require you to leave your GitHub environment. GHAS consists of three core components: code scanning, secret scanning, and dependency review. It’s free for public repositories, but for private and internal repositories you’ll need a GHAS license.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GHAS has three core components that work together: Code Scanning for finding vulnerabilities in your source code, Secret Scanning for detecting leaked credentials, and Dependency Review for managing supply chain risks.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Code scanning analyzes your source code to find security vulnerabilities and coding errors before you deploy. It uses static analysis. The primary engine is CodeQL, GitHub’s own semantic code analysis engine. You can also integrate third-party SARIF tools. It integrates with Copilot AutoFix for automatic fix suggestions.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Secret scanning is crucial for preventing credential leaks. It searches your entire repository including Git history for sensitive information. It detects 200+ secret types and works with 150+ service providers. Push protection actively blocks pushes containing detected secrets — proactive security that stops problems before they start.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Dependency review focuses on supply chain security. When someone creates a PR that adds or updates a dependency, it scans those changes and shows known vulnerabilities. It integrates with GitHub Actions to fail PRs that introduce high severity vulnerabilities. It’s much easier to address a vulnerable dependency in a PR than after it’s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GHAS fits seamlessly into your daily workflow. Once enabled, code scanning runs on pushes and PRs without manual intervention. Secret scanning happens constantly in the background. All alerts appear in the Security tab with actionable information. For teams using GitHub Actions, you can customize when scans run. For teams that don’t, the CodeQL CLI integrates into any CI/CD environment.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GHAS addresses three fundamental problems: shifting security left so you catch vulnerabilities while actively writing code; reducing developer friction because everything is integrated into GitHub; and providing comprehensive coverage across code vulnerabilities, credential leaks, and supply chain risks in one integrated solution.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summary, GitHub Advanced Security brings together code scanning, secret scanning, and dependency review for comprehensive security throughout your development lifecycle. These tools integrate seamlessly into your existing workflow so security becomes a natural part of how you build software. Shift left. Secure early. Ship with confidence.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645920"/>
            <a:ext cx="9144000" cy="1371600"/>
          </a:xfrm>
          <a:prstGeom prst="rect">
            <a:avLst/>
          </a:prstGeom>
          <a:noFill/>
        </p:spPr>
        <p:txBody>
          <a:bodyPr wrap="none">
            <a:spAutoFit/>
          </a:bodyPr>
          <a:lstStyle/>
          <a:p>
            <a:pPr algn="ctr">
              <a:defRPr sz="5400" b="1">
                <a:solidFill>
                  <a:srgbClr val="FFFFFF"/>
                </a:solidFill>
                <a:latin typeface="Segoe UI"/>
              </a:defRPr>
            </a:pPr>
            <a:r>
              <a:t>GitHub Advanced Security</a:t>
            </a:r>
          </a:p>
        </p:txBody>
      </p:sp>
      <p:sp>
        <p:nvSpPr>
          <p:cNvPr id="4" name="Rectangle 3"/>
          <p:cNvSpPr/>
          <p:nvPr/>
        </p:nvSpPr>
        <p:spPr>
          <a:xfrm>
            <a:off x="4114800" y="3108960"/>
            <a:ext cx="3931920" cy="54864"/>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0" y="3383280"/>
            <a:ext cx="8503920" cy="914400"/>
          </a:xfrm>
          <a:prstGeom prst="rect">
            <a:avLst/>
          </a:prstGeom>
          <a:noFill/>
        </p:spPr>
        <p:txBody>
          <a:bodyPr wrap="none">
            <a:spAutoFit/>
          </a:bodyPr>
          <a:lstStyle/>
          <a:p>
            <a:pPr algn="ctr">
              <a:defRPr sz="2400">
                <a:solidFill>
                  <a:srgbClr val="BBDDE5"/>
                </a:solidFill>
                <a:latin typeface="Segoe UI"/>
              </a:defRPr>
            </a:pPr>
            <a:r>
              <a:t>Securing Your Code at Every Stage of Development</a:t>
            </a:r>
          </a:p>
        </p:txBody>
      </p:sp>
      <p:sp>
        <p:nvSpPr>
          <p:cNvPr id="6" name="Rounded Rectangle 5"/>
          <p:cNvSpPr/>
          <p:nvPr/>
        </p:nvSpPr>
        <p:spPr>
          <a:xfrm>
            <a:off x="2286000" y="4754880"/>
            <a:ext cx="2377440" cy="822960"/>
          </a:xfrm>
          <a:prstGeom prst="roundRect">
            <a:avLst/>
          </a:prstGeom>
          <a:solidFill>
            <a:srgbClr val="3A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377440" y="4892040"/>
            <a:ext cx="2194560" cy="548640"/>
          </a:xfrm>
          <a:prstGeom prst="rect">
            <a:avLst/>
          </a:prstGeom>
          <a:noFill/>
        </p:spPr>
        <p:txBody>
          <a:bodyPr wrap="none">
            <a:spAutoFit/>
          </a:bodyPr>
          <a:lstStyle/>
          <a:p>
            <a:pPr algn="ctr">
              <a:defRPr sz="1800" b="1">
                <a:solidFill>
                  <a:srgbClr val="FFFFFF"/>
                </a:solidFill>
                <a:latin typeface="Segoe UI"/>
              </a:defRPr>
            </a:pPr>
            <a:r>
              <a:t>Code Scanning</a:t>
            </a:r>
          </a:p>
        </p:txBody>
      </p:sp>
      <p:sp>
        <p:nvSpPr>
          <p:cNvPr id="8" name="Rounded Rectangle 7"/>
          <p:cNvSpPr/>
          <p:nvPr/>
        </p:nvSpPr>
        <p:spPr>
          <a:xfrm>
            <a:off x="5212080" y="4754880"/>
            <a:ext cx="2377440" cy="822960"/>
          </a:xfrm>
          <a:prstGeom prst="roundRect">
            <a:avLst/>
          </a:prstGeom>
          <a:solidFill>
            <a:srgbClr val="3A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0" y="4892040"/>
            <a:ext cx="2194560" cy="548640"/>
          </a:xfrm>
          <a:prstGeom prst="rect">
            <a:avLst/>
          </a:prstGeom>
          <a:noFill/>
        </p:spPr>
        <p:txBody>
          <a:bodyPr wrap="none">
            <a:spAutoFit/>
          </a:bodyPr>
          <a:lstStyle/>
          <a:p>
            <a:pPr algn="ctr">
              <a:defRPr sz="1800" b="1">
                <a:solidFill>
                  <a:srgbClr val="FFFFFF"/>
                </a:solidFill>
                <a:latin typeface="Segoe UI"/>
              </a:defRPr>
            </a:pPr>
            <a:r>
              <a:t>Secret Scanning</a:t>
            </a:r>
          </a:p>
        </p:txBody>
      </p:sp>
      <p:sp>
        <p:nvSpPr>
          <p:cNvPr id="10" name="Rounded Rectangle 9"/>
          <p:cNvSpPr/>
          <p:nvPr/>
        </p:nvSpPr>
        <p:spPr>
          <a:xfrm>
            <a:off x="8138160" y="4754880"/>
            <a:ext cx="2377440" cy="822960"/>
          </a:xfrm>
          <a:prstGeom prst="roundRect">
            <a:avLst/>
          </a:prstGeom>
          <a:solidFill>
            <a:srgbClr val="3A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0" y="4892040"/>
            <a:ext cx="2194560" cy="548640"/>
          </a:xfrm>
          <a:prstGeom prst="rect">
            <a:avLst/>
          </a:prstGeom>
          <a:noFill/>
        </p:spPr>
        <p:txBody>
          <a:bodyPr wrap="none">
            <a:spAutoFit/>
          </a:bodyPr>
          <a:lstStyle/>
          <a:p>
            <a:pPr algn="ctr">
              <a:defRPr sz="1800" b="1">
                <a:solidFill>
                  <a:srgbClr val="FFFFFF"/>
                </a:solidFill>
                <a:latin typeface="Segoe UI"/>
              </a:defRPr>
            </a:pPr>
            <a:r>
              <a:t>Dependency Review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0"/>
          </a:xfrm>
          <a:prstGeom prst="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0"/>
            <a:ext cx="12191695" cy="54864"/>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10058400" cy="914400"/>
          </a:xfrm>
          <a:prstGeom prst="rect">
            <a:avLst/>
          </a:prstGeom>
          <a:noFill/>
        </p:spPr>
        <p:txBody>
          <a:bodyPr wrap="none">
            <a:spAutoFit/>
          </a:bodyPr>
          <a:lstStyle/>
          <a:p>
            <a:pPr>
              <a:defRPr sz="4000" b="1">
                <a:solidFill>
                  <a:srgbClr val="FFFFFF"/>
                </a:solidFill>
                <a:latin typeface="Segoe UI"/>
              </a:defRPr>
            </a:pPr>
            <a:r>
              <a:t>What is GitHub Advanced Security?</a:t>
            </a:r>
          </a:p>
        </p:txBody>
      </p:sp>
      <p:sp>
        <p:nvSpPr>
          <p:cNvPr id="5" name="Rounded Rectangle 4"/>
          <p:cNvSpPr/>
          <p:nvPr/>
        </p:nvSpPr>
        <p:spPr>
          <a:xfrm>
            <a:off x="548640" y="2194560"/>
            <a:ext cx="2560320" cy="3840480"/>
          </a:xfrm>
          <a:prstGeom prst="round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9272" y="2352681"/>
            <a:ext cx="2479708" cy="707886"/>
          </a:xfrm>
          <a:prstGeom prst="rect">
            <a:avLst/>
          </a:prstGeom>
          <a:noFill/>
        </p:spPr>
        <p:txBody>
          <a:bodyPr wrap="square">
            <a:spAutoFit/>
          </a:bodyPr>
          <a:lstStyle/>
          <a:p>
            <a:pPr>
              <a:defRPr sz="2000" b="1">
                <a:solidFill>
                  <a:srgbClr val="FFFFFF"/>
                </a:solidFill>
                <a:latin typeface="Segoe UI"/>
              </a:defRPr>
            </a:pPr>
            <a:r>
              <a:rPr dirty="0"/>
              <a:t>Developer-First Security</a:t>
            </a:r>
          </a:p>
        </p:txBody>
      </p:sp>
      <p:sp>
        <p:nvSpPr>
          <p:cNvPr id="7" name="TextBox 6"/>
          <p:cNvSpPr txBox="1"/>
          <p:nvPr/>
        </p:nvSpPr>
        <p:spPr>
          <a:xfrm>
            <a:off x="868680" y="3200400"/>
            <a:ext cx="1920240" cy="2560320"/>
          </a:xfrm>
          <a:prstGeom prst="rect">
            <a:avLst/>
          </a:prstGeom>
          <a:noFill/>
        </p:spPr>
        <p:txBody>
          <a:bodyPr wrap="square">
            <a:spAutoFit/>
          </a:bodyPr>
          <a:lstStyle/>
          <a:p>
            <a:pPr>
              <a:spcAft>
                <a:spcPts val="1000"/>
              </a:spcAft>
              <a:defRPr sz="1400">
                <a:solidFill>
                  <a:srgbClr val="E0F0F5"/>
                </a:solidFill>
                <a:latin typeface="Segoe UI"/>
              </a:defRPr>
            </a:pPr>
            <a:r>
              <a:t>✓  Security tools designed for developers</a:t>
            </a:r>
          </a:p>
          <a:p>
            <a:pPr>
              <a:spcAft>
                <a:spcPts val="1000"/>
              </a:spcAft>
              <a:defRPr sz="1400">
                <a:solidFill>
                  <a:srgbClr val="E0F0F5"/>
                </a:solidFill>
                <a:latin typeface="Segoe UI"/>
              </a:defRPr>
            </a:pPr>
            <a:r>
              <a:t>✓  No context switching required</a:t>
            </a:r>
          </a:p>
          <a:p>
            <a:pPr>
              <a:spcAft>
                <a:spcPts val="1000"/>
              </a:spcAft>
              <a:defRPr sz="1400">
                <a:solidFill>
                  <a:srgbClr val="E0F0F5"/>
                </a:solidFill>
                <a:latin typeface="Segoe UI"/>
              </a:defRPr>
            </a:pPr>
            <a:r>
              <a:t>✓  Shift-left approach to security</a:t>
            </a:r>
          </a:p>
        </p:txBody>
      </p:sp>
      <p:sp>
        <p:nvSpPr>
          <p:cNvPr id="8" name="Rounded Rectangle 7"/>
          <p:cNvSpPr/>
          <p:nvPr/>
        </p:nvSpPr>
        <p:spPr>
          <a:xfrm>
            <a:off x="3429000" y="2194560"/>
            <a:ext cx="2560320" cy="3840480"/>
          </a:xfrm>
          <a:prstGeom prst="roundRect">
            <a:avLst/>
          </a:prstGeom>
          <a:solidFill>
            <a:srgbClr val="3A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49040" y="2352681"/>
            <a:ext cx="2499362" cy="707886"/>
          </a:xfrm>
          <a:prstGeom prst="rect">
            <a:avLst/>
          </a:prstGeom>
          <a:noFill/>
        </p:spPr>
        <p:txBody>
          <a:bodyPr wrap="square">
            <a:spAutoFit/>
          </a:bodyPr>
          <a:lstStyle/>
          <a:p>
            <a:pPr>
              <a:defRPr sz="2000" b="1">
                <a:solidFill>
                  <a:srgbClr val="FFFFFF"/>
                </a:solidFill>
                <a:latin typeface="Segoe UI"/>
              </a:defRPr>
            </a:pPr>
            <a:r>
              <a:rPr dirty="0"/>
              <a:t>Automated Detection</a:t>
            </a:r>
          </a:p>
        </p:txBody>
      </p:sp>
      <p:sp>
        <p:nvSpPr>
          <p:cNvPr id="10" name="TextBox 9"/>
          <p:cNvSpPr txBox="1"/>
          <p:nvPr/>
        </p:nvSpPr>
        <p:spPr>
          <a:xfrm>
            <a:off x="3749040" y="3200400"/>
            <a:ext cx="1920240" cy="2560320"/>
          </a:xfrm>
          <a:prstGeom prst="rect">
            <a:avLst/>
          </a:prstGeom>
          <a:noFill/>
        </p:spPr>
        <p:txBody>
          <a:bodyPr wrap="square">
            <a:spAutoFit/>
          </a:bodyPr>
          <a:lstStyle/>
          <a:p>
            <a:pPr>
              <a:spcAft>
                <a:spcPts val="1000"/>
              </a:spcAft>
              <a:defRPr sz="1400">
                <a:solidFill>
                  <a:srgbClr val="E0F0F5"/>
                </a:solidFill>
                <a:latin typeface="Segoe UI"/>
              </a:defRPr>
            </a:pPr>
            <a:r>
              <a:t>✓  Scans for vulnerabilities continuously</a:t>
            </a:r>
          </a:p>
          <a:p>
            <a:pPr>
              <a:spcAft>
                <a:spcPts val="1000"/>
              </a:spcAft>
              <a:defRPr sz="1400">
                <a:solidFill>
                  <a:srgbClr val="E0F0F5"/>
                </a:solidFill>
                <a:latin typeface="Segoe UI"/>
              </a:defRPr>
            </a:pPr>
            <a:r>
              <a:t>✓  Identifies secrets, code flaws &amp; risky deps</a:t>
            </a:r>
          </a:p>
          <a:p>
            <a:pPr>
              <a:spcAft>
                <a:spcPts val="1000"/>
              </a:spcAft>
              <a:defRPr sz="1400">
                <a:solidFill>
                  <a:srgbClr val="E0F0F5"/>
                </a:solidFill>
                <a:latin typeface="Segoe UI"/>
              </a:defRPr>
            </a:pPr>
            <a:r>
              <a:t>✓  Runs on every push and PR</a:t>
            </a:r>
          </a:p>
        </p:txBody>
      </p:sp>
      <p:sp>
        <p:nvSpPr>
          <p:cNvPr id="11" name="Rounded Rectangle 10"/>
          <p:cNvSpPr/>
          <p:nvPr/>
        </p:nvSpPr>
        <p:spPr>
          <a:xfrm>
            <a:off x="6309360" y="2194560"/>
            <a:ext cx="2560320" cy="3840480"/>
          </a:xfrm>
          <a:prstGeom prst="round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94508" y="2352681"/>
            <a:ext cx="2458052" cy="707886"/>
          </a:xfrm>
          <a:prstGeom prst="rect">
            <a:avLst/>
          </a:prstGeom>
          <a:noFill/>
        </p:spPr>
        <p:txBody>
          <a:bodyPr wrap="square">
            <a:spAutoFit/>
          </a:bodyPr>
          <a:lstStyle/>
          <a:p>
            <a:pPr>
              <a:defRPr sz="2000" b="1">
                <a:solidFill>
                  <a:srgbClr val="FFFFFF"/>
                </a:solidFill>
                <a:latin typeface="Segoe UI"/>
              </a:defRPr>
            </a:pPr>
            <a:r>
              <a:rPr dirty="0"/>
              <a:t>Native GitHub Integration</a:t>
            </a:r>
          </a:p>
        </p:txBody>
      </p:sp>
      <p:sp>
        <p:nvSpPr>
          <p:cNvPr id="13" name="TextBox 12"/>
          <p:cNvSpPr txBox="1"/>
          <p:nvPr/>
        </p:nvSpPr>
        <p:spPr>
          <a:xfrm>
            <a:off x="6629400" y="3200400"/>
            <a:ext cx="1920240" cy="2560320"/>
          </a:xfrm>
          <a:prstGeom prst="rect">
            <a:avLst/>
          </a:prstGeom>
          <a:noFill/>
        </p:spPr>
        <p:txBody>
          <a:bodyPr wrap="square">
            <a:spAutoFit/>
          </a:bodyPr>
          <a:lstStyle/>
          <a:p>
            <a:pPr>
              <a:spcAft>
                <a:spcPts val="1000"/>
              </a:spcAft>
              <a:defRPr sz="1400">
                <a:solidFill>
                  <a:srgbClr val="E0F0F5"/>
                </a:solidFill>
                <a:latin typeface="Segoe UI"/>
              </a:defRPr>
            </a:pPr>
            <a:r>
              <a:t>✓  Results in PRs &amp; Security tab</a:t>
            </a:r>
          </a:p>
          <a:p>
            <a:pPr>
              <a:spcAft>
                <a:spcPts val="1000"/>
              </a:spcAft>
              <a:defRPr sz="1400">
                <a:solidFill>
                  <a:srgbClr val="E0F0F5"/>
                </a:solidFill>
                <a:latin typeface="Segoe UI"/>
              </a:defRPr>
            </a:pPr>
            <a:r>
              <a:t>✓  Works with GitHub Actions workflows</a:t>
            </a:r>
          </a:p>
          <a:p>
            <a:pPr>
              <a:spcAft>
                <a:spcPts val="1000"/>
              </a:spcAft>
              <a:defRPr sz="1400">
                <a:solidFill>
                  <a:srgbClr val="E0F0F5"/>
                </a:solidFill>
                <a:latin typeface="Segoe UI"/>
              </a:defRPr>
            </a:pPr>
            <a:r>
              <a:t>✓  Seamless developer experience</a:t>
            </a:r>
          </a:p>
        </p:txBody>
      </p:sp>
      <p:sp>
        <p:nvSpPr>
          <p:cNvPr id="14" name="Rounded Rectangle 13"/>
          <p:cNvSpPr/>
          <p:nvPr/>
        </p:nvSpPr>
        <p:spPr>
          <a:xfrm>
            <a:off x="9189720" y="2194560"/>
            <a:ext cx="2560320" cy="3840480"/>
          </a:xfrm>
          <a:prstGeom prst="roundRect">
            <a:avLst/>
          </a:prstGeom>
          <a:solidFill>
            <a:srgbClr val="3A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64040" y="2468880"/>
            <a:ext cx="2011680" cy="548640"/>
          </a:xfrm>
          <a:prstGeom prst="rect">
            <a:avLst/>
          </a:prstGeom>
          <a:noFill/>
        </p:spPr>
        <p:txBody>
          <a:bodyPr wrap="none">
            <a:spAutoFit/>
          </a:bodyPr>
          <a:lstStyle/>
          <a:p>
            <a:pPr>
              <a:defRPr sz="2000" b="1">
                <a:solidFill>
                  <a:srgbClr val="FFFFFF"/>
                </a:solidFill>
                <a:latin typeface="Segoe UI"/>
              </a:defRPr>
            </a:pPr>
            <a:r>
              <a:t>Flexible Licensing</a:t>
            </a:r>
          </a:p>
        </p:txBody>
      </p:sp>
      <p:sp>
        <p:nvSpPr>
          <p:cNvPr id="16" name="TextBox 15"/>
          <p:cNvSpPr txBox="1"/>
          <p:nvPr/>
        </p:nvSpPr>
        <p:spPr>
          <a:xfrm>
            <a:off x="9509760" y="3200400"/>
            <a:ext cx="1920240" cy="2560320"/>
          </a:xfrm>
          <a:prstGeom prst="rect">
            <a:avLst/>
          </a:prstGeom>
          <a:noFill/>
        </p:spPr>
        <p:txBody>
          <a:bodyPr wrap="square">
            <a:spAutoFit/>
          </a:bodyPr>
          <a:lstStyle/>
          <a:p>
            <a:pPr>
              <a:spcAft>
                <a:spcPts val="1000"/>
              </a:spcAft>
              <a:defRPr sz="1400">
                <a:solidFill>
                  <a:srgbClr val="E0F0F5"/>
                </a:solidFill>
                <a:latin typeface="Segoe UI"/>
              </a:defRPr>
            </a:pPr>
            <a:r>
              <a:t>✓  Free for all public repositories</a:t>
            </a:r>
          </a:p>
          <a:p>
            <a:pPr>
              <a:spcAft>
                <a:spcPts val="1000"/>
              </a:spcAft>
              <a:defRPr sz="1400">
                <a:solidFill>
                  <a:srgbClr val="E0F0F5"/>
                </a:solidFill>
                <a:latin typeface="Segoe UI"/>
              </a:defRPr>
            </a:pPr>
            <a:r>
              <a:t>✓  GHAS license for private/internal repos</a:t>
            </a:r>
          </a:p>
          <a:p>
            <a:pPr>
              <a:spcAft>
                <a:spcPts val="1000"/>
              </a:spcAft>
              <a:defRPr sz="1400">
                <a:solidFill>
                  <a:srgbClr val="E0F0F5"/>
                </a:solidFill>
                <a:latin typeface="Segoe UI"/>
              </a:defRPr>
            </a:pPr>
            <a:r>
              <a:t>✓  Enterprise-grade security at scale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0"/>
          </a:xfrm>
          <a:prstGeom prst="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0"/>
            <a:ext cx="12191695" cy="54864"/>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10058400" cy="914400"/>
          </a:xfrm>
          <a:prstGeom prst="rect">
            <a:avLst/>
          </a:prstGeom>
          <a:noFill/>
        </p:spPr>
        <p:txBody>
          <a:bodyPr wrap="none">
            <a:spAutoFit/>
          </a:bodyPr>
          <a:lstStyle/>
          <a:p>
            <a:pPr>
              <a:defRPr sz="4000" b="1">
                <a:solidFill>
                  <a:srgbClr val="FFFFFF"/>
                </a:solidFill>
                <a:latin typeface="Segoe UI"/>
              </a:defRPr>
            </a:pPr>
            <a:r>
              <a:t>GHAS Core Components</a:t>
            </a:r>
          </a:p>
          <a:p>
            <a:pPr>
              <a:defRPr sz="1800">
                <a:solidFill>
                  <a:srgbClr val="BBDDE5"/>
                </a:solidFill>
                <a:latin typeface="Segoe UI"/>
              </a:defRPr>
            </a:pPr>
            <a:r>
              <a:t>Three pillars of developer-first security</a:t>
            </a:r>
          </a:p>
        </p:txBody>
      </p:sp>
      <p:sp>
        <p:nvSpPr>
          <p:cNvPr id="5" name="Rectangle 4"/>
          <p:cNvSpPr/>
          <p:nvPr/>
        </p:nvSpPr>
        <p:spPr>
          <a:xfrm>
            <a:off x="548640" y="2286000"/>
            <a:ext cx="3474720" cy="73152"/>
          </a:xfrm>
          <a:prstGeom prst="rect">
            <a:avLst/>
          </a:prstGeom>
          <a:solidFill>
            <a:srgbClr val="E86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2377440"/>
            <a:ext cx="3474720" cy="4023360"/>
          </a:xfrm>
          <a:prstGeom prst="round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606040"/>
            <a:ext cx="2926080" cy="457200"/>
          </a:xfrm>
          <a:prstGeom prst="rect">
            <a:avLst/>
          </a:prstGeom>
          <a:noFill/>
        </p:spPr>
        <p:txBody>
          <a:bodyPr wrap="none">
            <a:spAutoFit/>
          </a:bodyPr>
          <a:lstStyle/>
          <a:p>
            <a:pPr>
              <a:defRPr sz="2400" b="1">
                <a:solidFill>
                  <a:srgbClr val="1A1A2E"/>
                </a:solidFill>
                <a:latin typeface="Segoe UI"/>
              </a:defRPr>
            </a:pPr>
            <a:r>
              <a:t>Code Scanning</a:t>
            </a:r>
          </a:p>
        </p:txBody>
      </p:sp>
      <p:sp>
        <p:nvSpPr>
          <p:cNvPr id="8" name="TextBox 7"/>
          <p:cNvSpPr txBox="1"/>
          <p:nvPr/>
        </p:nvSpPr>
        <p:spPr>
          <a:xfrm>
            <a:off x="822960" y="3108960"/>
            <a:ext cx="2926080" cy="731520"/>
          </a:xfrm>
          <a:prstGeom prst="rect">
            <a:avLst/>
          </a:prstGeom>
          <a:noFill/>
        </p:spPr>
        <p:txBody>
          <a:bodyPr wrap="square">
            <a:spAutoFit/>
          </a:bodyPr>
          <a:lstStyle/>
          <a:p>
            <a:pPr>
              <a:defRPr sz="1300">
                <a:solidFill>
                  <a:srgbClr val="555566"/>
                </a:solidFill>
                <a:latin typeface="Segoe UI"/>
              </a:defRPr>
            </a:pPr>
            <a:r>
              <a:t>Find vulnerabilities via static analysis powered by CodeQL.</a:t>
            </a:r>
          </a:p>
        </p:txBody>
      </p:sp>
      <p:sp>
        <p:nvSpPr>
          <p:cNvPr id="9" name="TextBox 8"/>
          <p:cNvSpPr txBox="1"/>
          <p:nvPr/>
        </p:nvSpPr>
        <p:spPr>
          <a:xfrm>
            <a:off x="822960" y="3931920"/>
            <a:ext cx="2926080" cy="2286000"/>
          </a:xfrm>
          <a:prstGeom prst="rect">
            <a:avLst/>
          </a:prstGeom>
          <a:noFill/>
        </p:spPr>
        <p:txBody>
          <a:bodyPr wrap="square">
            <a:spAutoFit/>
          </a:bodyPr>
          <a:lstStyle/>
          <a:p>
            <a:pPr>
              <a:spcAft>
                <a:spcPts val="1000"/>
              </a:spcAft>
              <a:defRPr sz="1400">
                <a:solidFill>
                  <a:srgbClr val="1A1A2E"/>
                </a:solidFill>
                <a:latin typeface="Segoe UI"/>
              </a:defRPr>
            </a:pPr>
            <a:r>
              <a:t>✓  Static analysis (SAST)</a:t>
            </a:r>
          </a:p>
          <a:p>
            <a:pPr>
              <a:spcAft>
                <a:spcPts val="1000"/>
              </a:spcAft>
              <a:defRPr sz="1400">
                <a:solidFill>
                  <a:srgbClr val="1A1A2E"/>
                </a:solidFill>
                <a:latin typeface="Segoe UI"/>
              </a:defRPr>
            </a:pPr>
            <a:r>
              <a:t>✓  Powered by CodeQL engine</a:t>
            </a:r>
          </a:p>
          <a:p>
            <a:pPr>
              <a:spcAft>
                <a:spcPts val="1000"/>
              </a:spcAft>
              <a:defRPr sz="1400">
                <a:solidFill>
                  <a:srgbClr val="1A1A2E"/>
                </a:solidFill>
                <a:latin typeface="Segoe UI"/>
              </a:defRPr>
            </a:pPr>
            <a:r>
              <a:t>✓  SARIF-compatible tools</a:t>
            </a:r>
          </a:p>
          <a:p>
            <a:pPr>
              <a:spcAft>
                <a:spcPts val="1000"/>
              </a:spcAft>
              <a:defRPr sz="1400">
                <a:solidFill>
                  <a:srgbClr val="1A1A2E"/>
                </a:solidFill>
                <a:latin typeface="Segoe UI"/>
              </a:defRPr>
            </a:pPr>
            <a:r>
              <a:t>✓  Copilot Autofix integration</a:t>
            </a:r>
          </a:p>
        </p:txBody>
      </p:sp>
      <p:sp>
        <p:nvSpPr>
          <p:cNvPr id="10" name="Rectangle 9"/>
          <p:cNvSpPr/>
          <p:nvPr/>
        </p:nvSpPr>
        <p:spPr>
          <a:xfrm>
            <a:off x="4389120" y="2286000"/>
            <a:ext cx="3474720" cy="731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89120" y="2377440"/>
            <a:ext cx="3474720" cy="4023360"/>
          </a:xfrm>
          <a:prstGeom prst="round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2606040"/>
            <a:ext cx="2926080" cy="457200"/>
          </a:xfrm>
          <a:prstGeom prst="rect">
            <a:avLst/>
          </a:prstGeom>
          <a:noFill/>
        </p:spPr>
        <p:txBody>
          <a:bodyPr wrap="none">
            <a:spAutoFit/>
          </a:bodyPr>
          <a:lstStyle/>
          <a:p>
            <a:pPr>
              <a:defRPr sz="2400" b="1">
                <a:solidFill>
                  <a:srgbClr val="1A1A2E"/>
                </a:solidFill>
                <a:latin typeface="Segoe UI"/>
              </a:defRPr>
            </a:pPr>
            <a:r>
              <a:t>Secret Scanning</a:t>
            </a:r>
          </a:p>
        </p:txBody>
      </p:sp>
      <p:sp>
        <p:nvSpPr>
          <p:cNvPr id="13" name="TextBox 12"/>
          <p:cNvSpPr txBox="1"/>
          <p:nvPr/>
        </p:nvSpPr>
        <p:spPr>
          <a:xfrm>
            <a:off x="4663440" y="3108960"/>
            <a:ext cx="2926080" cy="731520"/>
          </a:xfrm>
          <a:prstGeom prst="rect">
            <a:avLst/>
          </a:prstGeom>
          <a:noFill/>
        </p:spPr>
        <p:txBody>
          <a:bodyPr wrap="square">
            <a:spAutoFit/>
          </a:bodyPr>
          <a:lstStyle/>
          <a:p>
            <a:pPr>
              <a:defRPr sz="1300">
                <a:solidFill>
                  <a:srgbClr val="555566"/>
                </a:solidFill>
                <a:latin typeface="Segoe UI"/>
              </a:defRPr>
            </a:pPr>
            <a:r>
              <a:t>Detect exposed secrets across your repo, history, issues, and PRs.</a:t>
            </a:r>
          </a:p>
        </p:txBody>
      </p:sp>
      <p:sp>
        <p:nvSpPr>
          <p:cNvPr id="14" name="TextBox 13"/>
          <p:cNvSpPr txBox="1"/>
          <p:nvPr/>
        </p:nvSpPr>
        <p:spPr>
          <a:xfrm>
            <a:off x="4663440" y="3931920"/>
            <a:ext cx="2926080" cy="2286000"/>
          </a:xfrm>
          <a:prstGeom prst="rect">
            <a:avLst/>
          </a:prstGeom>
          <a:noFill/>
        </p:spPr>
        <p:txBody>
          <a:bodyPr wrap="square">
            <a:spAutoFit/>
          </a:bodyPr>
          <a:lstStyle/>
          <a:p>
            <a:pPr>
              <a:spcAft>
                <a:spcPts val="1000"/>
              </a:spcAft>
              <a:defRPr sz="1400">
                <a:solidFill>
                  <a:srgbClr val="1A1A2E"/>
                </a:solidFill>
                <a:latin typeface="Segoe UI"/>
              </a:defRPr>
            </a:pPr>
            <a:r>
              <a:t>✓  200+ secret types detected</a:t>
            </a:r>
          </a:p>
          <a:p>
            <a:pPr>
              <a:spcAft>
                <a:spcPts val="1000"/>
              </a:spcAft>
              <a:defRPr sz="1400">
                <a:solidFill>
                  <a:srgbClr val="1A1A2E"/>
                </a:solidFill>
                <a:latin typeface="Segoe UI"/>
              </a:defRPr>
            </a:pPr>
            <a:r>
              <a:t>✓  150+ partner providers</a:t>
            </a:r>
          </a:p>
          <a:p>
            <a:pPr>
              <a:spcAft>
                <a:spcPts val="1000"/>
              </a:spcAft>
              <a:defRPr sz="1400">
                <a:solidFill>
                  <a:srgbClr val="1A1A2E"/>
                </a:solidFill>
                <a:latin typeface="Segoe UI"/>
              </a:defRPr>
            </a:pPr>
            <a:r>
              <a:t>✓  Custom regex patterns</a:t>
            </a:r>
          </a:p>
          <a:p>
            <a:pPr>
              <a:spcAft>
                <a:spcPts val="1000"/>
              </a:spcAft>
              <a:defRPr sz="1400">
                <a:solidFill>
                  <a:srgbClr val="1A1A2E"/>
                </a:solidFill>
                <a:latin typeface="Segoe UI"/>
              </a:defRPr>
            </a:pPr>
            <a:r>
              <a:t>✓  Push protection</a:t>
            </a:r>
          </a:p>
        </p:txBody>
      </p:sp>
      <p:sp>
        <p:nvSpPr>
          <p:cNvPr id="15" name="Rectangle 14"/>
          <p:cNvSpPr/>
          <p:nvPr/>
        </p:nvSpPr>
        <p:spPr>
          <a:xfrm>
            <a:off x="8229600" y="2286000"/>
            <a:ext cx="3474720" cy="73152"/>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229600" y="2377440"/>
            <a:ext cx="3474720" cy="4023360"/>
          </a:xfrm>
          <a:prstGeom prst="round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0" y="2606040"/>
            <a:ext cx="2926080" cy="457200"/>
          </a:xfrm>
          <a:prstGeom prst="rect">
            <a:avLst/>
          </a:prstGeom>
          <a:noFill/>
        </p:spPr>
        <p:txBody>
          <a:bodyPr wrap="none">
            <a:spAutoFit/>
          </a:bodyPr>
          <a:lstStyle/>
          <a:p>
            <a:pPr>
              <a:defRPr sz="2400" b="1">
                <a:solidFill>
                  <a:srgbClr val="1A1A2E"/>
                </a:solidFill>
                <a:latin typeface="Segoe UI"/>
              </a:defRPr>
            </a:pPr>
            <a:r>
              <a:t>Dependency Review</a:t>
            </a:r>
          </a:p>
        </p:txBody>
      </p:sp>
      <p:sp>
        <p:nvSpPr>
          <p:cNvPr id="18" name="TextBox 17"/>
          <p:cNvSpPr txBox="1"/>
          <p:nvPr/>
        </p:nvSpPr>
        <p:spPr>
          <a:xfrm>
            <a:off x="8503920" y="3108960"/>
            <a:ext cx="2926080" cy="731520"/>
          </a:xfrm>
          <a:prstGeom prst="rect">
            <a:avLst/>
          </a:prstGeom>
          <a:noFill/>
        </p:spPr>
        <p:txBody>
          <a:bodyPr wrap="square">
            <a:spAutoFit/>
          </a:bodyPr>
          <a:lstStyle/>
          <a:p>
            <a:pPr>
              <a:defRPr sz="1300">
                <a:solidFill>
                  <a:srgbClr val="555566"/>
                </a:solidFill>
                <a:latin typeface="Segoe UI"/>
              </a:defRPr>
            </a:pPr>
            <a:r>
              <a:t>Understand security impact of dependency changes before merge.</a:t>
            </a:r>
          </a:p>
        </p:txBody>
      </p:sp>
      <p:sp>
        <p:nvSpPr>
          <p:cNvPr id="19" name="TextBox 18"/>
          <p:cNvSpPr txBox="1"/>
          <p:nvPr/>
        </p:nvSpPr>
        <p:spPr>
          <a:xfrm>
            <a:off x="8503920" y="3931920"/>
            <a:ext cx="2926080" cy="2286000"/>
          </a:xfrm>
          <a:prstGeom prst="rect">
            <a:avLst/>
          </a:prstGeom>
          <a:noFill/>
        </p:spPr>
        <p:txBody>
          <a:bodyPr wrap="square">
            <a:spAutoFit/>
          </a:bodyPr>
          <a:lstStyle/>
          <a:p>
            <a:pPr>
              <a:spcAft>
                <a:spcPts val="1000"/>
              </a:spcAft>
              <a:defRPr sz="1400">
                <a:solidFill>
                  <a:srgbClr val="1A1A2E"/>
                </a:solidFill>
                <a:latin typeface="Segoe UI"/>
              </a:defRPr>
            </a:pPr>
            <a:r>
              <a:t>✓  PR-level dependency analysis</a:t>
            </a:r>
          </a:p>
          <a:p>
            <a:pPr>
              <a:spcAft>
                <a:spcPts val="1000"/>
              </a:spcAft>
              <a:defRPr sz="1400">
                <a:solidFill>
                  <a:srgbClr val="1A1A2E"/>
                </a:solidFill>
                <a:latin typeface="Segoe UI"/>
              </a:defRPr>
            </a:pPr>
            <a:r>
              <a:t>✓  Known vulnerability detection</a:t>
            </a:r>
          </a:p>
          <a:p>
            <a:pPr>
              <a:spcAft>
                <a:spcPts val="1000"/>
              </a:spcAft>
              <a:defRPr sz="1400">
                <a:solidFill>
                  <a:srgbClr val="1A1A2E"/>
                </a:solidFill>
                <a:latin typeface="Segoe UI"/>
              </a:defRPr>
            </a:pPr>
            <a:r>
              <a:t>✓  GitHub Actions integration</a:t>
            </a:r>
          </a:p>
          <a:p>
            <a:pPr>
              <a:spcAft>
                <a:spcPts val="1000"/>
              </a:spcAft>
              <a:defRPr sz="1400">
                <a:solidFill>
                  <a:srgbClr val="1A1A2E"/>
                </a:solidFill>
                <a:latin typeface="Segoe UI"/>
              </a:defRPr>
            </a:pPr>
            <a:r>
              <a:t>✓  Supply chain protection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0"/>
          </a:xfrm>
          <a:prstGeom prst="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0"/>
            <a:ext cx="12191695" cy="54864"/>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10058400" cy="914400"/>
          </a:xfrm>
          <a:prstGeom prst="rect">
            <a:avLst/>
          </a:prstGeom>
          <a:noFill/>
        </p:spPr>
        <p:txBody>
          <a:bodyPr wrap="none">
            <a:spAutoFit/>
          </a:bodyPr>
          <a:lstStyle/>
          <a:p>
            <a:pPr>
              <a:defRPr sz="4000" b="1">
                <a:solidFill>
                  <a:srgbClr val="FFFFFF"/>
                </a:solidFill>
                <a:latin typeface="Segoe UI"/>
              </a:defRPr>
            </a:pPr>
            <a:r>
              <a:t>Code Scanning</a:t>
            </a:r>
          </a:p>
          <a:p>
            <a:pPr>
              <a:defRPr sz="1800">
                <a:solidFill>
                  <a:srgbClr val="BBDDE5"/>
                </a:solidFill>
                <a:latin typeface="Segoe UI"/>
              </a:defRPr>
            </a:pPr>
            <a:r>
              <a:t>Find and fix vulnerabilities before deployment</a:t>
            </a:r>
          </a:p>
        </p:txBody>
      </p:sp>
      <p:sp>
        <p:nvSpPr>
          <p:cNvPr id="5" name="TextBox 4"/>
          <p:cNvSpPr txBox="1"/>
          <p:nvPr/>
        </p:nvSpPr>
        <p:spPr>
          <a:xfrm>
            <a:off x="731520" y="2103120"/>
            <a:ext cx="5029200" cy="4114800"/>
          </a:xfrm>
          <a:prstGeom prst="rect">
            <a:avLst/>
          </a:prstGeom>
          <a:noFill/>
        </p:spPr>
        <p:txBody>
          <a:bodyPr wrap="square">
            <a:spAutoFit/>
          </a:bodyPr>
          <a:lstStyle/>
          <a:p>
            <a:r>
              <a:rPr sz="1600" b="1">
                <a:solidFill>
                  <a:srgbClr val="2C4A52"/>
                </a:solidFill>
                <a:latin typeface="Segoe UI"/>
              </a:rPr>
              <a:t>▶  Static Analysis</a:t>
            </a:r>
          </a:p>
          <a:p>
            <a:pPr>
              <a:spcAft>
                <a:spcPts val="600"/>
              </a:spcAft>
              <a:defRPr sz="1300">
                <a:solidFill>
                  <a:srgbClr val="555566"/>
                </a:solidFill>
                <a:latin typeface="Segoe UI"/>
              </a:defRPr>
            </a:pPr>
            <a:r>
              <a:t>     Examines source code without executing it, catching SQL injection, XSS, buffer overflows.</a:t>
            </a:r>
          </a:p>
          <a:p>
            <a:pPr>
              <a:spcBef>
                <a:spcPts val="400"/>
              </a:spcBef>
            </a:pPr>
            <a:endParaRPr/>
          </a:p>
          <a:p>
            <a:r>
              <a:rPr sz="1600" b="1">
                <a:solidFill>
                  <a:srgbClr val="2C4A52"/>
                </a:solidFill>
                <a:latin typeface="Segoe UI"/>
              </a:rPr>
              <a:t>▶  Powered by CodeQL</a:t>
            </a:r>
          </a:p>
          <a:p>
            <a:pPr>
              <a:spcAft>
                <a:spcPts val="600"/>
              </a:spcAft>
              <a:defRPr sz="1300">
                <a:solidFill>
                  <a:srgbClr val="555566"/>
                </a:solidFill>
                <a:latin typeface="Segoe UI"/>
              </a:defRPr>
            </a:pPr>
            <a:r>
              <a:t>     GitHub’s semantic engine treats code as data for complex vulnerability queries.</a:t>
            </a:r>
          </a:p>
          <a:p>
            <a:pPr>
              <a:spcBef>
                <a:spcPts val="400"/>
              </a:spcBef>
            </a:pPr>
            <a:endParaRPr/>
          </a:p>
          <a:p>
            <a:r>
              <a:rPr sz="1600" b="1">
                <a:solidFill>
                  <a:srgbClr val="2C4A52"/>
                </a:solidFill>
                <a:latin typeface="Segoe UI"/>
              </a:rPr>
              <a:t>▶  Third-Party Integration</a:t>
            </a:r>
          </a:p>
          <a:p>
            <a:pPr>
              <a:spcAft>
                <a:spcPts val="600"/>
              </a:spcAft>
              <a:defRPr sz="1300">
                <a:solidFill>
                  <a:srgbClr val="555566"/>
                </a:solidFill>
                <a:latin typeface="Segoe UI"/>
              </a:defRPr>
            </a:pPr>
            <a:r>
              <a:t>     Supports any SARIF-compatible tool alongside CodeQL.</a:t>
            </a:r>
          </a:p>
          <a:p>
            <a:pPr>
              <a:spcBef>
                <a:spcPts val="400"/>
              </a:spcBef>
            </a:pPr>
            <a:endParaRPr/>
          </a:p>
          <a:p>
            <a:r>
              <a:rPr sz="1600" b="1">
                <a:solidFill>
                  <a:srgbClr val="2C4A52"/>
                </a:solidFill>
                <a:latin typeface="Segoe UI"/>
              </a:rPr>
              <a:t>▶  Automated Workflows</a:t>
            </a:r>
          </a:p>
          <a:p>
            <a:pPr>
              <a:spcAft>
                <a:spcPts val="600"/>
              </a:spcAft>
              <a:defRPr sz="1300">
                <a:solidFill>
                  <a:srgbClr val="555566"/>
                </a:solidFill>
                <a:latin typeface="Segoe UI"/>
              </a:defRPr>
            </a:pPr>
            <a:r>
              <a:t>     Runs on every push/PR. Results surface directly in pull requests.</a:t>
            </a:r>
          </a:p>
          <a:p>
            <a:pPr>
              <a:spcBef>
                <a:spcPts val="400"/>
              </a:spcBef>
            </a:pPr>
            <a:endParaRPr/>
          </a:p>
          <a:p>
            <a:r>
              <a:rPr sz="1600" b="1">
                <a:solidFill>
                  <a:srgbClr val="2C4A52"/>
                </a:solidFill>
                <a:latin typeface="Segoe UI"/>
              </a:rPr>
              <a:t>▶  Copilot Autofix</a:t>
            </a:r>
          </a:p>
          <a:p>
            <a:pPr>
              <a:spcAft>
                <a:spcPts val="600"/>
              </a:spcAft>
              <a:defRPr sz="1300">
                <a:solidFill>
                  <a:srgbClr val="555566"/>
                </a:solidFill>
                <a:latin typeface="Segoe UI"/>
              </a:defRPr>
            </a:pPr>
            <a:r>
              <a:t>     AI-powered fix suggestions that automatically propose remediation.</a:t>
            </a:r>
          </a:p>
        </p:txBody>
      </p:sp>
      <p:sp>
        <p:nvSpPr>
          <p:cNvPr id="6" name="Rounded Rectangle 5"/>
          <p:cNvSpPr/>
          <p:nvPr/>
        </p:nvSpPr>
        <p:spPr>
          <a:xfrm>
            <a:off x="6583680" y="2103120"/>
            <a:ext cx="4846320" cy="4114800"/>
          </a:xfrm>
          <a:prstGeom prst="round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0" y="2286000"/>
            <a:ext cx="4297680" cy="457200"/>
          </a:xfrm>
          <a:prstGeom prst="rect">
            <a:avLst/>
          </a:prstGeom>
          <a:noFill/>
        </p:spPr>
        <p:txBody>
          <a:bodyPr wrap="none">
            <a:spAutoFit/>
          </a:bodyPr>
          <a:lstStyle/>
          <a:p>
            <a:pPr>
              <a:defRPr sz="2200" b="1">
                <a:solidFill>
                  <a:srgbClr val="FFFFFF"/>
                </a:solidFill>
                <a:latin typeface="Segoe UI"/>
              </a:defRPr>
            </a:pPr>
            <a:r>
              <a:t>Key Highlights</a:t>
            </a:r>
          </a:p>
        </p:txBody>
      </p:sp>
      <p:sp>
        <p:nvSpPr>
          <p:cNvPr id="8" name="TextBox 7"/>
          <p:cNvSpPr txBox="1"/>
          <p:nvPr/>
        </p:nvSpPr>
        <p:spPr>
          <a:xfrm>
            <a:off x="6858000" y="2926080"/>
            <a:ext cx="4297680" cy="3108960"/>
          </a:xfrm>
          <a:prstGeom prst="rect">
            <a:avLst/>
          </a:prstGeom>
          <a:noFill/>
        </p:spPr>
        <p:txBody>
          <a:bodyPr wrap="square">
            <a:spAutoFit/>
          </a:bodyPr>
          <a:lstStyle/>
          <a:p>
            <a:pPr>
              <a:spcAft>
                <a:spcPts val="1000"/>
              </a:spcAft>
              <a:defRPr sz="1500">
                <a:solidFill>
                  <a:srgbClr val="E0F0F5"/>
                </a:solidFill>
                <a:latin typeface="Segoe UI"/>
              </a:defRPr>
            </a:pPr>
            <a:r>
              <a:t>✓  Supports 10+ programming languages</a:t>
            </a:r>
          </a:p>
          <a:p>
            <a:pPr>
              <a:spcAft>
                <a:spcPts val="1000"/>
              </a:spcAft>
              <a:defRPr sz="1500">
                <a:solidFill>
                  <a:srgbClr val="E0F0F5"/>
                </a:solidFill>
                <a:latin typeface="Segoe UI"/>
              </a:defRPr>
            </a:pPr>
            <a:r>
              <a:t>✓  Thousands of built-in CodeQL queries</a:t>
            </a:r>
          </a:p>
          <a:p>
            <a:pPr>
              <a:spcAft>
                <a:spcPts val="1000"/>
              </a:spcAft>
              <a:defRPr sz="1500">
                <a:solidFill>
                  <a:srgbClr val="E0F0F5"/>
                </a:solidFill>
                <a:latin typeface="Segoe UI"/>
              </a:defRPr>
            </a:pPr>
            <a:r>
              <a:t>✓  Community-contributed query packs</a:t>
            </a:r>
          </a:p>
          <a:p>
            <a:pPr>
              <a:spcAft>
                <a:spcPts val="1000"/>
              </a:spcAft>
              <a:defRPr sz="1500">
                <a:solidFill>
                  <a:srgbClr val="E0F0F5"/>
                </a:solidFill>
                <a:latin typeface="Segoe UI"/>
              </a:defRPr>
            </a:pPr>
            <a:r>
              <a:t>✓  SARIF standard for interoperability</a:t>
            </a:r>
          </a:p>
          <a:p>
            <a:pPr>
              <a:spcAft>
                <a:spcPts val="1000"/>
              </a:spcAft>
              <a:defRPr sz="1500">
                <a:solidFill>
                  <a:srgbClr val="E0F0F5"/>
                </a:solidFill>
                <a:latin typeface="Segoe UI"/>
              </a:defRPr>
            </a:pPr>
            <a:r>
              <a:t>✓  GitHub Actions native integration</a:t>
            </a:r>
          </a:p>
          <a:p>
            <a:pPr>
              <a:spcAft>
                <a:spcPts val="1000"/>
              </a:spcAft>
              <a:defRPr sz="1500">
                <a:solidFill>
                  <a:srgbClr val="E0F0F5"/>
                </a:solidFill>
                <a:latin typeface="Segoe UI"/>
              </a:defRPr>
            </a:pPr>
            <a:r>
              <a:t>✓  Results in Security tab &amp; PR checks</a:t>
            </a:r>
          </a:p>
          <a:p>
            <a:pPr>
              <a:spcAft>
                <a:spcPts val="1000"/>
              </a:spcAft>
              <a:defRPr sz="1500">
                <a:solidFill>
                  <a:srgbClr val="E0F0F5"/>
                </a:solidFill>
                <a:latin typeface="Segoe UI"/>
              </a:defRPr>
            </a:pPr>
            <a:r>
              <a:t>✓  Copilot Autofix for AI remediation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0"/>
          </a:xfrm>
          <a:prstGeom prst="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0"/>
            <a:ext cx="12191695" cy="54864"/>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10058400" cy="914400"/>
          </a:xfrm>
          <a:prstGeom prst="rect">
            <a:avLst/>
          </a:prstGeom>
          <a:noFill/>
        </p:spPr>
        <p:txBody>
          <a:bodyPr wrap="none">
            <a:spAutoFit/>
          </a:bodyPr>
          <a:lstStyle/>
          <a:p>
            <a:pPr>
              <a:defRPr sz="4000" b="1">
                <a:solidFill>
                  <a:srgbClr val="FFFFFF"/>
                </a:solidFill>
                <a:latin typeface="Segoe UI"/>
              </a:defRPr>
            </a:pPr>
            <a:r>
              <a:t>Secret Scanning</a:t>
            </a:r>
          </a:p>
          <a:p>
            <a:pPr>
              <a:defRPr sz="1800">
                <a:solidFill>
                  <a:srgbClr val="BBDDE5"/>
                </a:solidFill>
                <a:latin typeface="Segoe UI"/>
              </a:defRPr>
            </a:pPr>
            <a:r>
              <a:t>Prevent credential leaks before they cause damage</a:t>
            </a:r>
          </a:p>
        </p:txBody>
      </p:sp>
      <p:sp>
        <p:nvSpPr>
          <p:cNvPr id="5" name="Rounded Rectangle 4"/>
          <p:cNvSpPr/>
          <p:nvPr/>
        </p:nvSpPr>
        <p:spPr>
          <a:xfrm>
            <a:off x="548640" y="2286000"/>
            <a:ext cx="3474720" cy="4023360"/>
          </a:xfrm>
          <a:prstGeom prst="round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286000"/>
            <a:ext cx="3474720" cy="8229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377440"/>
            <a:ext cx="2926080" cy="548640"/>
          </a:xfrm>
          <a:prstGeom prst="rect">
            <a:avLst/>
          </a:prstGeom>
          <a:noFill/>
        </p:spPr>
        <p:txBody>
          <a:bodyPr wrap="none">
            <a:spAutoFit/>
          </a:bodyPr>
          <a:lstStyle/>
          <a:p>
            <a:pPr>
              <a:defRPr sz="2200" b="1">
                <a:solidFill>
                  <a:srgbClr val="FFFFFF"/>
                </a:solidFill>
                <a:latin typeface="Segoe UI"/>
              </a:defRPr>
            </a:pPr>
            <a:r>
              <a:t>Comprehensive Scanning</a:t>
            </a:r>
          </a:p>
        </p:txBody>
      </p:sp>
      <p:sp>
        <p:nvSpPr>
          <p:cNvPr id="8" name="TextBox 7"/>
          <p:cNvSpPr txBox="1"/>
          <p:nvPr/>
        </p:nvSpPr>
        <p:spPr>
          <a:xfrm>
            <a:off x="822960" y="3383280"/>
            <a:ext cx="2926080" cy="2743200"/>
          </a:xfrm>
          <a:prstGeom prst="rect">
            <a:avLst/>
          </a:prstGeom>
          <a:noFill/>
        </p:spPr>
        <p:txBody>
          <a:bodyPr wrap="square">
            <a:spAutoFit/>
          </a:bodyPr>
          <a:lstStyle/>
          <a:p>
            <a:pPr>
              <a:spcAft>
                <a:spcPts val="1000"/>
              </a:spcAft>
              <a:defRPr sz="1400">
                <a:solidFill>
                  <a:srgbClr val="1A1A2E"/>
                </a:solidFill>
                <a:latin typeface="Segoe UI"/>
              </a:defRPr>
            </a:pPr>
            <a:r>
              <a:t>•  Scans entire repo including Git history</a:t>
            </a:r>
          </a:p>
          <a:p>
            <a:pPr>
              <a:spcAft>
                <a:spcPts val="1000"/>
              </a:spcAft>
              <a:defRPr sz="1400">
                <a:solidFill>
                  <a:srgbClr val="1A1A2E"/>
                </a:solidFill>
                <a:latin typeface="Segoe UI"/>
              </a:defRPr>
            </a:pPr>
            <a:r>
              <a:t>•  Covers issues, PRs, and wikis</a:t>
            </a:r>
          </a:p>
          <a:p>
            <a:pPr>
              <a:spcAft>
                <a:spcPts val="1000"/>
              </a:spcAft>
              <a:defRPr sz="1400">
                <a:solidFill>
                  <a:srgbClr val="1A1A2E"/>
                </a:solidFill>
                <a:latin typeface="Segoe UI"/>
              </a:defRPr>
            </a:pPr>
            <a:r>
              <a:t>•  Detects 200+ secret types</a:t>
            </a:r>
          </a:p>
          <a:p>
            <a:pPr>
              <a:spcAft>
                <a:spcPts val="1000"/>
              </a:spcAft>
              <a:defRPr sz="1400">
                <a:solidFill>
                  <a:srgbClr val="1A1A2E"/>
                </a:solidFill>
                <a:latin typeface="Segoe UI"/>
              </a:defRPr>
            </a:pPr>
            <a:r>
              <a:t>•  Custom regex pattern support</a:t>
            </a:r>
          </a:p>
        </p:txBody>
      </p:sp>
      <p:sp>
        <p:nvSpPr>
          <p:cNvPr id="9" name="Rounded Rectangle 8"/>
          <p:cNvSpPr/>
          <p:nvPr/>
        </p:nvSpPr>
        <p:spPr>
          <a:xfrm>
            <a:off x="4389120" y="2286000"/>
            <a:ext cx="3474720" cy="4023360"/>
          </a:xfrm>
          <a:prstGeom prst="round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2286000"/>
            <a:ext cx="3474720" cy="822960"/>
          </a:xfrm>
          <a:prstGeom prst="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2377440"/>
            <a:ext cx="2926080" cy="548640"/>
          </a:xfrm>
          <a:prstGeom prst="rect">
            <a:avLst/>
          </a:prstGeom>
          <a:noFill/>
        </p:spPr>
        <p:txBody>
          <a:bodyPr wrap="none">
            <a:spAutoFit/>
          </a:bodyPr>
          <a:lstStyle/>
          <a:p>
            <a:pPr>
              <a:defRPr sz="2200" b="1">
                <a:solidFill>
                  <a:srgbClr val="FFFFFF"/>
                </a:solidFill>
                <a:latin typeface="Segoe UI"/>
              </a:defRPr>
            </a:pPr>
            <a:r>
              <a:t>Partner Program</a:t>
            </a:r>
          </a:p>
        </p:txBody>
      </p:sp>
      <p:sp>
        <p:nvSpPr>
          <p:cNvPr id="12" name="TextBox 11"/>
          <p:cNvSpPr txBox="1"/>
          <p:nvPr/>
        </p:nvSpPr>
        <p:spPr>
          <a:xfrm>
            <a:off x="4663440" y="3383280"/>
            <a:ext cx="2926080" cy="2743200"/>
          </a:xfrm>
          <a:prstGeom prst="rect">
            <a:avLst/>
          </a:prstGeom>
          <a:noFill/>
        </p:spPr>
        <p:txBody>
          <a:bodyPr wrap="square">
            <a:spAutoFit/>
          </a:bodyPr>
          <a:lstStyle/>
          <a:p>
            <a:pPr>
              <a:spcAft>
                <a:spcPts val="1000"/>
              </a:spcAft>
              <a:defRPr sz="1400">
                <a:solidFill>
                  <a:srgbClr val="1A1A2E"/>
                </a:solidFill>
                <a:latin typeface="Segoe UI"/>
              </a:defRPr>
            </a:pPr>
            <a:r>
              <a:t>•  150+ service provider partners</a:t>
            </a:r>
          </a:p>
          <a:p>
            <a:pPr>
              <a:spcAft>
                <a:spcPts val="1000"/>
              </a:spcAft>
              <a:defRPr sz="1400">
                <a:solidFill>
                  <a:srgbClr val="1A1A2E"/>
                </a:solidFill>
                <a:latin typeface="Segoe UI"/>
              </a:defRPr>
            </a:pPr>
            <a:r>
              <a:t>•  Automatic provider notification</a:t>
            </a:r>
          </a:p>
          <a:p>
            <a:pPr>
              <a:spcAft>
                <a:spcPts val="1000"/>
              </a:spcAft>
              <a:defRPr sz="1400">
                <a:solidFill>
                  <a:srgbClr val="1A1A2E"/>
                </a:solidFill>
                <a:latin typeface="Segoe UI"/>
              </a:defRPr>
            </a:pPr>
            <a:r>
              <a:t>•  Credential revocation workflows</a:t>
            </a:r>
          </a:p>
          <a:p>
            <a:pPr>
              <a:spcAft>
                <a:spcPts val="1000"/>
              </a:spcAft>
              <a:defRPr sz="1400">
                <a:solidFill>
                  <a:srgbClr val="1A1A2E"/>
                </a:solidFill>
                <a:latin typeface="Segoe UI"/>
              </a:defRPr>
            </a:pPr>
            <a:r>
              <a:t>•  Organization-wide visibility</a:t>
            </a:r>
          </a:p>
        </p:txBody>
      </p:sp>
      <p:sp>
        <p:nvSpPr>
          <p:cNvPr id="13" name="Rounded Rectangle 12"/>
          <p:cNvSpPr/>
          <p:nvPr/>
        </p:nvSpPr>
        <p:spPr>
          <a:xfrm>
            <a:off x="8229600" y="2286000"/>
            <a:ext cx="3474720" cy="4023360"/>
          </a:xfrm>
          <a:prstGeom prst="round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2286000"/>
            <a:ext cx="3474720" cy="822960"/>
          </a:xfrm>
          <a:prstGeom prst="rect">
            <a:avLst/>
          </a:prstGeom>
          <a:solidFill>
            <a:srgbClr val="E86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0" y="2377440"/>
            <a:ext cx="2926080" cy="548640"/>
          </a:xfrm>
          <a:prstGeom prst="rect">
            <a:avLst/>
          </a:prstGeom>
          <a:noFill/>
        </p:spPr>
        <p:txBody>
          <a:bodyPr wrap="none">
            <a:spAutoFit/>
          </a:bodyPr>
          <a:lstStyle/>
          <a:p>
            <a:pPr>
              <a:defRPr sz="2200" b="1">
                <a:solidFill>
                  <a:srgbClr val="FFFFFF"/>
                </a:solidFill>
                <a:latin typeface="Segoe UI"/>
              </a:defRPr>
            </a:pPr>
            <a:r>
              <a:t>Push Protection</a:t>
            </a:r>
          </a:p>
        </p:txBody>
      </p:sp>
      <p:sp>
        <p:nvSpPr>
          <p:cNvPr id="16" name="TextBox 15"/>
          <p:cNvSpPr txBox="1"/>
          <p:nvPr/>
        </p:nvSpPr>
        <p:spPr>
          <a:xfrm>
            <a:off x="8503920" y="3383280"/>
            <a:ext cx="2926080" cy="2743200"/>
          </a:xfrm>
          <a:prstGeom prst="rect">
            <a:avLst/>
          </a:prstGeom>
          <a:noFill/>
        </p:spPr>
        <p:txBody>
          <a:bodyPr wrap="square">
            <a:spAutoFit/>
          </a:bodyPr>
          <a:lstStyle/>
          <a:p>
            <a:pPr>
              <a:spcAft>
                <a:spcPts val="1000"/>
              </a:spcAft>
              <a:defRPr sz="1400">
                <a:solidFill>
                  <a:srgbClr val="1A1A2E"/>
                </a:solidFill>
                <a:latin typeface="Segoe UI"/>
              </a:defRPr>
            </a:pPr>
            <a:r>
              <a:t>•  Blocks pushes containing secrets</a:t>
            </a:r>
          </a:p>
          <a:p>
            <a:pPr>
              <a:spcAft>
                <a:spcPts val="1000"/>
              </a:spcAft>
              <a:defRPr sz="1400">
                <a:solidFill>
                  <a:srgbClr val="1A1A2E"/>
                </a:solidFill>
                <a:latin typeface="Segoe UI"/>
              </a:defRPr>
            </a:pPr>
            <a:r>
              <a:t>•  Proactive security enforcement</a:t>
            </a:r>
          </a:p>
          <a:p>
            <a:pPr>
              <a:spcAft>
                <a:spcPts val="1000"/>
              </a:spcAft>
              <a:defRPr sz="1400">
                <a:solidFill>
                  <a:srgbClr val="1A1A2E"/>
                </a:solidFill>
                <a:latin typeface="Segoe UI"/>
              </a:defRPr>
            </a:pPr>
            <a:r>
              <a:t>•  Prevents secrets from entering repo</a:t>
            </a:r>
          </a:p>
          <a:p>
            <a:pPr>
              <a:spcAft>
                <a:spcPts val="1000"/>
              </a:spcAft>
              <a:defRPr sz="1400">
                <a:solidFill>
                  <a:srgbClr val="1A1A2E"/>
                </a:solidFill>
                <a:latin typeface="Segoe UI"/>
              </a:defRPr>
            </a:pPr>
            <a:r>
              <a:t>•  Bypass with audit trail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0"/>
          </a:xfrm>
          <a:prstGeom prst="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0"/>
            <a:ext cx="12191695" cy="54864"/>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10058400" cy="914400"/>
          </a:xfrm>
          <a:prstGeom prst="rect">
            <a:avLst/>
          </a:prstGeom>
          <a:noFill/>
        </p:spPr>
        <p:txBody>
          <a:bodyPr wrap="none">
            <a:spAutoFit/>
          </a:bodyPr>
          <a:lstStyle/>
          <a:p>
            <a:pPr>
              <a:defRPr sz="4000" b="1">
                <a:solidFill>
                  <a:srgbClr val="FFFFFF"/>
                </a:solidFill>
                <a:latin typeface="Segoe UI"/>
              </a:defRPr>
            </a:pPr>
            <a:r>
              <a:t>Dependency Review</a:t>
            </a:r>
          </a:p>
          <a:p>
            <a:pPr>
              <a:defRPr sz="1800">
                <a:solidFill>
                  <a:srgbClr val="BBDDE5"/>
                </a:solidFill>
                <a:latin typeface="Segoe UI"/>
              </a:defRPr>
            </a:pPr>
            <a:r>
              <a:t>Secure your software supply chain</a:t>
            </a:r>
          </a:p>
        </p:txBody>
      </p:sp>
      <p:sp>
        <p:nvSpPr>
          <p:cNvPr id="5" name="TextBox 4"/>
          <p:cNvSpPr txBox="1"/>
          <p:nvPr/>
        </p:nvSpPr>
        <p:spPr>
          <a:xfrm>
            <a:off x="731520" y="2103120"/>
            <a:ext cx="10972800" cy="914400"/>
          </a:xfrm>
          <a:prstGeom prst="rect">
            <a:avLst/>
          </a:prstGeom>
          <a:noFill/>
        </p:spPr>
        <p:txBody>
          <a:bodyPr wrap="square">
            <a:spAutoFit/>
          </a:bodyPr>
          <a:lstStyle/>
          <a:p>
            <a:pPr>
              <a:defRPr sz="1600">
                <a:solidFill>
                  <a:srgbClr val="1A1A2E"/>
                </a:solidFill>
                <a:latin typeface="Segoe UI"/>
              </a:defRPr>
            </a:pPr>
            <a:r>
              <a:t>Understand how dependency changes in pull requests impact your security posture. Catch supply chain risks before they reach production.</a:t>
            </a:r>
          </a:p>
        </p:txBody>
      </p:sp>
      <p:sp>
        <p:nvSpPr>
          <p:cNvPr id="6" name="Rounded Rectangle 5"/>
          <p:cNvSpPr/>
          <p:nvPr/>
        </p:nvSpPr>
        <p:spPr>
          <a:xfrm>
            <a:off x="548640" y="3383280"/>
            <a:ext cx="914400" cy="914400"/>
          </a:xfrm>
          <a:prstGeom prst="roundRect">
            <a:avLst/>
          </a:prstGeom>
          <a:solidFill>
            <a:srgbClr val="E86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4480560"/>
            <a:ext cx="3474720" cy="640080"/>
          </a:xfrm>
          <a:prstGeom prst="rect">
            <a:avLst/>
          </a:prstGeom>
          <a:noFill/>
        </p:spPr>
        <p:txBody>
          <a:bodyPr wrap="square">
            <a:spAutoFit/>
          </a:bodyPr>
          <a:lstStyle/>
          <a:p>
            <a:pPr>
              <a:defRPr sz="1800" b="1">
                <a:solidFill>
                  <a:srgbClr val="1A1A2E"/>
                </a:solidFill>
                <a:latin typeface="Segoe UI"/>
              </a:defRPr>
            </a:pPr>
            <a:r>
              <a:t>Analyzes Dependency Changes in PRs</a:t>
            </a:r>
          </a:p>
        </p:txBody>
      </p:sp>
      <p:sp>
        <p:nvSpPr>
          <p:cNvPr id="8" name="TextBox 7"/>
          <p:cNvSpPr txBox="1"/>
          <p:nvPr/>
        </p:nvSpPr>
        <p:spPr>
          <a:xfrm>
            <a:off x="548640" y="5120640"/>
            <a:ext cx="3474720" cy="1371600"/>
          </a:xfrm>
          <a:prstGeom prst="rect">
            <a:avLst/>
          </a:prstGeom>
          <a:noFill/>
        </p:spPr>
        <p:txBody>
          <a:bodyPr wrap="square">
            <a:spAutoFit/>
          </a:bodyPr>
          <a:lstStyle/>
          <a:p>
            <a:pPr>
              <a:defRPr sz="1300">
                <a:solidFill>
                  <a:srgbClr val="555566"/>
                </a:solidFill>
                <a:latin typeface="Segoe UI"/>
              </a:defRPr>
            </a:pPr>
            <a:r>
              <a:t>Scans added/updated dependencies and shows known vulnerabilities in new or updated packages.</a:t>
            </a:r>
          </a:p>
        </p:txBody>
      </p:sp>
      <p:sp>
        <p:nvSpPr>
          <p:cNvPr id="9" name="Rounded Rectangle 8"/>
          <p:cNvSpPr/>
          <p:nvPr/>
        </p:nvSpPr>
        <p:spPr>
          <a:xfrm>
            <a:off x="4389120" y="3383280"/>
            <a:ext cx="914400" cy="9144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0" y="4480560"/>
            <a:ext cx="3474720" cy="640080"/>
          </a:xfrm>
          <a:prstGeom prst="rect">
            <a:avLst/>
          </a:prstGeom>
          <a:noFill/>
        </p:spPr>
        <p:txBody>
          <a:bodyPr wrap="square">
            <a:spAutoFit/>
          </a:bodyPr>
          <a:lstStyle/>
          <a:p>
            <a:pPr>
              <a:defRPr sz="1800" b="1">
                <a:solidFill>
                  <a:srgbClr val="1A1A2E"/>
                </a:solidFill>
                <a:latin typeface="Segoe UI"/>
              </a:defRPr>
            </a:pPr>
            <a:r>
              <a:t>Supply Chain Risk Prevention</a:t>
            </a:r>
          </a:p>
        </p:txBody>
      </p:sp>
      <p:sp>
        <p:nvSpPr>
          <p:cNvPr id="11" name="TextBox 10"/>
          <p:cNvSpPr txBox="1"/>
          <p:nvPr/>
        </p:nvSpPr>
        <p:spPr>
          <a:xfrm>
            <a:off x="4389120" y="5120640"/>
            <a:ext cx="3474720" cy="1371600"/>
          </a:xfrm>
          <a:prstGeom prst="rect">
            <a:avLst/>
          </a:prstGeom>
          <a:noFill/>
        </p:spPr>
        <p:txBody>
          <a:bodyPr wrap="square">
            <a:spAutoFit/>
          </a:bodyPr>
          <a:lstStyle/>
          <a:p>
            <a:pPr>
              <a:defRPr sz="1300">
                <a:solidFill>
                  <a:srgbClr val="555566"/>
                </a:solidFill>
                <a:latin typeface="Segoe UI"/>
              </a:defRPr>
            </a:pPr>
            <a:r>
              <a:t>Identifies vulnerable packages before they enter your codebase. Integrates with the GitHub Advisory Database.</a:t>
            </a:r>
          </a:p>
        </p:txBody>
      </p:sp>
      <p:sp>
        <p:nvSpPr>
          <p:cNvPr id="12" name="Rounded Rectangle 11"/>
          <p:cNvSpPr/>
          <p:nvPr/>
        </p:nvSpPr>
        <p:spPr>
          <a:xfrm>
            <a:off x="8229600" y="3383280"/>
            <a:ext cx="914400" cy="914400"/>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0" y="4480560"/>
            <a:ext cx="3474720" cy="640080"/>
          </a:xfrm>
          <a:prstGeom prst="rect">
            <a:avLst/>
          </a:prstGeom>
          <a:noFill/>
        </p:spPr>
        <p:txBody>
          <a:bodyPr wrap="square">
            <a:spAutoFit/>
          </a:bodyPr>
          <a:lstStyle/>
          <a:p>
            <a:pPr>
              <a:defRPr sz="1800" b="1">
                <a:solidFill>
                  <a:srgbClr val="1A1A2E"/>
                </a:solidFill>
                <a:latin typeface="Segoe UI"/>
              </a:defRPr>
            </a:pPr>
            <a:r>
              <a:t>Pre-Merge Security Checks</a:t>
            </a:r>
          </a:p>
        </p:txBody>
      </p:sp>
      <p:sp>
        <p:nvSpPr>
          <p:cNvPr id="14" name="TextBox 13"/>
          <p:cNvSpPr txBox="1"/>
          <p:nvPr/>
        </p:nvSpPr>
        <p:spPr>
          <a:xfrm>
            <a:off x="8229600" y="5120640"/>
            <a:ext cx="3474720" cy="1371600"/>
          </a:xfrm>
          <a:prstGeom prst="rect">
            <a:avLst/>
          </a:prstGeom>
          <a:noFill/>
        </p:spPr>
        <p:txBody>
          <a:bodyPr wrap="square">
            <a:spAutoFit/>
          </a:bodyPr>
          <a:lstStyle/>
          <a:p>
            <a:pPr>
              <a:defRPr sz="1300">
                <a:solidFill>
                  <a:srgbClr val="555566"/>
                </a:solidFill>
                <a:latin typeface="Segoe UI"/>
              </a:defRPr>
            </a:pPr>
            <a:r>
              <a:t>Integrates with GitHub Actions to fail PRs introducing high severity vulnerabilities. Gate your merges on security.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0"/>
          </a:xfrm>
          <a:prstGeom prst="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0"/>
            <a:ext cx="12191695" cy="54864"/>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10058400" cy="914400"/>
          </a:xfrm>
          <a:prstGeom prst="rect">
            <a:avLst/>
          </a:prstGeom>
          <a:noFill/>
        </p:spPr>
        <p:txBody>
          <a:bodyPr wrap="none">
            <a:spAutoFit/>
          </a:bodyPr>
          <a:lstStyle/>
          <a:p>
            <a:pPr>
              <a:defRPr sz="4000" b="1">
                <a:solidFill>
                  <a:srgbClr val="FFFFFF"/>
                </a:solidFill>
                <a:latin typeface="Segoe UI"/>
              </a:defRPr>
            </a:pPr>
            <a:r>
              <a:t>Developer Workflow Integration</a:t>
            </a:r>
          </a:p>
          <a:p>
            <a:pPr>
              <a:defRPr sz="1800">
                <a:solidFill>
                  <a:srgbClr val="BBDDE5"/>
                </a:solidFill>
                <a:latin typeface="Segoe UI"/>
              </a:defRPr>
            </a:pPr>
            <a:r>
              <a:t>Security that fits naturally into your daily workflow</a:t>
            </a:r>
          </a:p>
        </p:txBody>
      </p:sp>
      <p:sp>
        <p:nvSpPr>
          <p:cNvPr id="5" name="Rectangle 4"/>
          <p:cNvSpPr/>
          <p:nvPr/>
        </p:nvSpPr>
        <p:spPr>
          <a:xfrm>
            <a:off x="5760720" y="2560320"/>
            <a:ext cx="54864" cy="34747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0" y="4251960"/>
            <a:ext cx="6126480" cy="5486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371600" y="2286000"/>
            <a:ext cx="4114800" cy="2011680"/>
          </a:xfrm>
          <a:prstGeom prst="round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2468880"/>
            <a:ext cx="3566160" cy="457200"/>
          </a:xfrm>
          <a:prstGeom prst="rect">
            <a:avLst/>
          </a:prstGeom>
          <a:noFill/>
        </p:spPr>
        <p:txBody>
          <a:bodyPr wrap="none">
            <a:spAutoFit/>
          </a:bodyPr>
          <a:lstStyle/>
          <a:p>
            <a:pPr>
              <a:defRPr sz="2000" b="1">
                <a:solidFill>
                  <a:srgbClr val="FFFFFF"/>
                </a:solidFill>
                <a:latin typeface="Segoe UI"/>
              </a:defRPr>
            </a:pPr>
            <a:r>
              <a:t>Automatic Scanning</a:t>
            </a:r>
          </a:p>
        </p:txBody>
      </p:sp>
      <p:sp>
        <p:nvSpPr>
          <p:cNvPr id="9" name="TextBox 8"/>
          <p:cNvSpPr txBox="1"/>
          <p:nvPr/>
        </p:nvSpPr>
        <p:spPr>
          <a:xfrm>
            <a:off x="1645920" y="3017520"/>
            <a:ext cx="3566160" cy="1097280"/>
          </a:xfrm>
          <a:prstGeom prst="rect">
            <a:avLst/>
          </a:prstGeom>
          <a:noFill/>
        </p:spPr>
        <p:txBody>
          <a:bodyPr wrap="square">
            <a:spAutoFit/>
          </a:bodyPr>
          <a:lstStyle/>
          <a:p>
            <a:pPr>
              <a:defRPr sz="1300">
                <a:solidFill>
                  <a:srgbClr val="E0F0F5"/>
                </a:solidFill>
                <a:latin typeface="Segoe UI"/>
              </a:defRPr>
            </a:pPr>
            <a:r>
              <a:t>Code scanning runs on pushes and PRs without manual intervention. Secret scanning runs constantly in the background. Dependency review triggers on PR creation.</a:t>
            </a:r>
          </a:p>
        </p:txBody>
      </p:sp>
      <p:sp>
        <p:nvSpPr>
          <p:cNvPr id="10" name="Rounded Rectangle 9"/>
          <p:cNvSpPr/>
          <p:nvPr/>
        </p:nvSpPr>
        <p:spPr>
          <a:xfrm>
            <a:off x="6400800" y="2286000"/>
            <a:ext cx="4114800" cy="2011680"/>
          </a:xfrm>
          <a:prstGeom prst="round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2468880"/>
            <a:ext cx="3566160" cy="457200"/>
          </a:xfrm>
          <a:prstGeom prst="rect">
            <a:avLst/>
          </a:prstGeom>
          <a:noFill/>
        </p:spPr>
        <p:txBody>
          <a:bodyPr wrap="none">
            <a:spAutoFit/>
          </a:bodyPr>
          <a:lstStyle/>
          <a:p>
            <a:pPr>
              <a:defRPr sz="2000" b="1">
                <a:solidFill>
                  <a:srgbClr val="FFFFFF"/>
                </a:solidFill>
                <a:latin typeface="Segoe UI"/>
              </a:defRPr>
            </a:pPr>
            <a:r>
              <a:t>Results in GitHub Security Tab</a:t>
            </a:r>
          </a:p>
        </p:txBody>
      </p:sp>
      <p:sp>
        <p:nvSpPr>
          <p:cNvPr id="12" name="TextBox 11"/>
          <p:cNvSpPr txBox="1"/>
          <p:nvPr/>
        </p:nvSpPr>
        <p:spPr>
          <a:xfrm>
            <a:off x="6675120" y="3017520"/>
            <a:ext cx="3566160" cy="1097280"/>
          </a:xfrm>
          <a:prstGeom prst="rect">
            <a:avLst/>
          </a:prstGeom>
          <a:noFill/>
        </p:spPr>
        <p:txBody>
          <a:bodyPr wrap="square">
            <a:spAutoFit/>
          </a:bodyPr>
          <a:lstStyle/>
          <a:p>
            <a:pPr>
              <a:defRPr sz="1300">
                <a:solidFill>
                  <a:srgbClr val="E0F0F5"/>
                </a:solidFill>
                <a:latin typeface="Segoe UI"/>
              </a:defRPr>
            </a:pPr>
            <a:r>
              <a:t>All alerts appear in the Security tab with actionable info — where the issue is, what the risk is, and how to fix it. No separate dashboards needed.</a:t>
            </a:r>
          </a:p>
        </p:txBody>
      </p:sp>
      <p:sp>
        <p:nvSpPr>
          <p:cNvPr id="13" name="Rounded Rectangle 12"/>
          <p:cNvSpPr/>
          <p:nvPr/>
        </p:nvSpPr>
        <p:spPr>
          <a:xfrm>
            <a:off x="1371600" y="4572000"/>
            <a:ext cx="4114800" cy="2011680"/>
          </a:xfrm>
          <a:prstGeom prst="round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5920" y="4754880"/>
            <a:ext cx="3566160" cy="457200"/>
          </a:xfrm>
          <a:prstGeom prst="rect">
            <a:avLst/>
          </a:prstGeom>
          <a:noFill/>
        </p:spPr>
        <p:txBody>
          <a:bodyPr wrap="none">
            <a:spAutoFit/>
          </a:bodyPr>
          <a:lstStyle/>
          <a:p>
            <a:pPr>
              <a:defRPr sz="2000" b="1">
                <a:solidFill>
                  <a:srgbClr val="FFFFFF"/>
                </a:solidFill>
                <a:latin typeface="Segoe UI"/>
              </a:defRPr>
            </a:pPr>
            <a:r>
              <a:t>No Context Switching</a:t>
            </a:r>
          </a:p>
        </p:txBody>
      </p:sp>
      <p:sp>
        <p:nvSpPr>
          <p:cNvPr id="15" name="TextBox 14"/>
          <p:cNvSpPr txBox="1"/>
          <p:nvPr/>
        </p:nvSpPr>
        <p:spPr>
          <a:xfrm>
            <a:off x="1645920" y="5303520"/>
            <a:ext cx="3566160" cy="1097280"/>
          </a:xfrm>
          <a:prstGeom prst="rect">
            <a:avLst/>
          </a:prstGeom>
          <a:noFill/>
        </p:spPr>
        <p:txBody>
          <a:bodyPr wrap="square">
            <a:spAutoFit/>
          </a:bodyPr>
          <a:lstStyle/>
          <a:p>
            <a:pPr>
              <a:defRPr sz="1300">
                <a:solidFill>
                  <a:srgbClr val="E0F0F5"/>
                </a:solidFill>
                <a:latin typeface="Segoe UI"/>
              </a:defRPr>
            </a:pPr>
            <a:r>
              <a:t>Developers never leave GitHub or learn new tools. Everything is integrated into the platform they already use every day.</a:t>
            </a:r>
          </a:p>
        </p:txBody>
      </p:sp>
      <p:sp>
        <p:nvSpPr>
          <p:cNvPr id="16" name="Rounded Rectangle 15"/>
          <p:cNvSpPr/>
          <p:nvPr/>
        </p:nvSpPr>
        <p:spPr>
          <a:xfrm>
            <a:off x="6400800" y="4572000"/>
            <a:ext cx="4114800" cy="2011680"/>
          </a:xfrm>
          <a:prstGeom prst="round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4754880"/>
            <a:ext cx="3566160" cy="457200"/>
          </a:xfrm>
          <a:prstGeom prst="rect">
            <a:avLst/>
          </a:prstGeom>
          <a:noFill/>
        </p:spPr>
        <p:txBody>
          <a:bodyPr wrap="none">
            <a:spAutoFit/>
          </a:bodyPr>
          <a:lstStyle/>
          <a:p>
            <a:pPr>
              <a:defRPr sz="2000" b="1">
                <a:solidFill>
                  <a:srgbClr val="FFFFFF"/>
                </a:solidFill>
                <a:latin typeface="Segoe UI"/>
              </a:defRPr>
            </a:pPr>
            <a:r>
              <a:t>CI/CD Pipeline Compatible</a:t>
            </a:r>
          </a:p>
        </p:txBody>
      </p:sp>
      <p:sp>
        <p:nvSpPr>
          <p:cNvPr id="18" name="TextBox 17"/>
          <p:cNvSpPr txBox="1"/>
          <p:nvPr/>
        </p:nvSpPr>
        <p:spPr>
          <a:xfrm>
            <a:off x="6675120" y="5303520"/>
            <a:ext cx="3566160" cy="1097280"/>
          </a:xfrm>
          <a:prstGeom prst="rect">
            <a:avLst/>
          </a:prstGeom>
          <a:noFill/>
        </p:spPr>
        <p:txBody>
          <a:bodyPr wrap="square">
            <a:spAutoFit/>
          </a:bodyPr>
          <a:lstStyle/>
          <a:p>
            <a:pPr>
              <a:defRPr sz="1300">
                <a:solidFill>
                  <a:srgbClr val="E0F0F5"/>
                </a:solidFill>
                <a:latin typeface="Segoe UI"/>
              </a:defRPr>
            </a:pPr>
            <a:r>
              <a:t>For GitHub Actions users, customize when scans run. For others, the CodeQL CLI integrates into any CI/CD environment.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0"/>
          </a:xfrm>
          <a:prstGeom prst="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0"/>
            <a:ext cx="12191695" cy="54864"/>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10058400" cy="914400"/>
          </a:xfrm>
          <a:prstGeom prst="rect">
            <a:avLst/>
          </a:prstGeom>
          <a:noFill/>
        </p:spPr>
        <p:txBody>
          <a:bodyPr wrap="none">
            <a:spAutoFit/>
          </a:bodyPr>
          <a:lstStyle/>
          <a:p>
            <a:pPr>
              <a:defRPr sz="4000" b="1">
                <a:solidFill>
                  <a:srgbClr val="FFFFFF"/>
                </a:solidFill>
                <a:latin typeface="Segoe UI"/>
              </a:defRPr>
            </a:pPr>
            <a:r>
              <a:t>Why GHAS?</a:t>
            </a:r>
          </a:p>
          <a:p>
            <a:pPr>
              <a:defRPr sz="1800">
                <a:solidFill>
                  <a:srgbClr val="BBDDE5"/>
                </a:solidFill>
                <a:latin typeface="Segoe UI"/>
              </a:defRPr>
            </a:pPr>
            <a:r>
              <a:t>The value proposition for your development team</a:t>
            </a:r>
          </a:p>
        </p:txBody>
      </p:sp>
      <p:sp>
        <p:nvSpPr>
          <p:cNvPr id="5" name="Diamond 4"/>
          <p:cNvSpPr/>
          <p:nvPr/>
        </p:nvSpPr>
        <p:spPr>
          <a:xfrm>
            <a:off x="4389120" y="2377440"/>
            <a:ext cx="3474720" cy="3840480"/>
          </a:xfrm>
          <a:prstGeom prst="diamond">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743200" y="2103120"/>
            <a:ext cx="3474720" cy="2011680"/>
          </a:xfrm>
          <a:prstGeom prst="round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017520" y="2286000"/>
            <a:ext cx="2926080" cy="457200"/>
          </a:xfrm>
          <a:prstGeom prst="rect">
            <a:avLst/>
          </a:prstGeom>
          <a:noFill/>
        </p:spPr>
        <p:txBody>
          <a:bodyPr wrap="none">
            <a:spAutoFit/>
          </a:bodyPr>
          <a:lstStyle/>
          <a:p>
            <a:pPr>
              <a:defRPr sz="2000" b="1">
                <a:solidFill>
                  <a:srgbClr val="FFFFFF"/>
                </a:solidFill>
                <a:latin typeface="Segoe UI"/>
              </a:defRPr>
            </a:pPr>
            <a:r>
              <a:t>Shift Security Left</a:t>
            </a:r>
          </a:p>
        </p:txBody>
      </p:sp>
      <p:sp>
        <p:nvSpPr>
          <p:cNvPr id="8" name="TextBox 7"/>
          <p:cNvSpPr txBox="1"/>
          <p:nvPr/>
        </p:nvSpPr>
        <p:spPr>
          <a:xfrm>
            <a:off x="3017520" y="2834640"/>
            <a:ext cx="2926080" cy="1097280"/>
          </a:xfrm>
          <a:prstGeom prst="rect">
            <a:avLst/>
          </a:prstGeom>
          <a:noFill/>
        </p:spPr>
        <p:txBody>
          <a:bodyPr wrap="square">
            <a:spAutoFit/>
          </a:bodyPr>
          <a:lstStyle/>
          <a:p>
            <a:pPr>
              <a:defRPr sz="1300">
                <a:solidFill>
                  <a:srgbClr val="E0F0F5"/>
                </a:solidFill>
                <a:latin typeface="Segoe UI"/>
              </a:defRPr>
            </a:pPr>
            <a:r>
              <a:t>Find vulnerabilities while actively writing code, not in production or during separate security reviews. Earlier detection = cheaper and faster fixes.</a:t>
            </a:r>
          </a:p>
        </p:txBody>
      </p:sp>
      <p:sp>
        <p:nvSpPr>
          <p:cNvPr id="9" name="Rounded Rectangle 8"/>
          <p:cNvSpPr/>
          <p:nvPr/>
        </p:nvSpPr>
        <p:spPr>
          <a:xfrm>
            <a:off x="6675120" y="2103120"/>
            <a:ext cx="3474720" cy="2011680"/>
          </a:xfrm>
          <a:prstGeom prst="roundRect">
            <a:avLst/>
          </a:prstGeom>
          <a:solidFill>
            <a:srgbClr val="3A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9440" y="2286000"/>
            <a:ext cx="2926080" cy="457200"/>
          </a:xfrm>
          <a:prstGeom prst="rect">
            <a:avLst/>
          </a:prstGeom>
          <a:noFill/>
        </p:spPr>
        <p:txBody>
          <a:bodyPr wrap="none">
            <a:spAutoFit/>
          </a:bodyPr>
          <a:lstStyle/>
          <a:p>
            <a:pPr>
              <a:defRPr sz="2000" b="1">
                <a:solidFill>
                  <a:srgbClr val="FFFFFF"/>
                </a:solidFill>
                <a:latin typeface="Segoe UI"/>
              </a:defRPr>
            </a:pPr>
            <a:r>
              <a:t>Reduce Developer Friction</a:t>
            </a:r>
          </a:p>
        </p:txBody>
      </p:sp>
      <p:sp>
        <p:nvSpPr>
          <p:cNvPr id="11" name="TextBox 10"/>
          <p:cNvSpPr txBox="1"/>
          <p:nvPr/>
        </p:nvSpPr>
        <p:spPr>
          <a:xfrm>
            <a:off x="6949440" y="2834640"/>
            <a:ext cx="2926080" cy="1097280"/>
          </a:xfrm>
          <a:prstGeom prst="rect">
            <a:avLst/>
          </a:prstGeom>
          <a:noFill/>
        </p:spPr>
        <p:txBody>
          <a:bodyPr wrap="square">
            <a:spAutoFit/>
          </a:bodyPr>
          <a:lstStyle/>
          <a:p>
            <a:pPr>
              <a:defRPr sz="1300">
                <a:solidFill>
                  <a:srgbClr val="E0F0F5"/>
                </a:solidFill>
                <a:latin typeface="Segoe UI"/>
              </a:defRPr>
            </a:pPr>
            <a:r>
              <a:t>Everything integrated into GitHub. No new interfaces to learn, no workflow interruptions. Security becomes a natural part of development.</a:t>
            </a:r>
          </a:p>
        </p:txBody>
      </p:sp>
      <p:sp>
        <p:nvSpPr>
          <p:cNvPr id="12" name="Rounded Rectangle 11"/>
          <p:cNvSpPr/>
          <p:nvPr/>
        </p:nvSpPr>
        <p:spPr>
          <a:xfrm>
            <a:off x="2743200" y="4389120"/>
            <a:ext cx="3474720" cy="2011680"/>
          </a:xfrm>
          <a:prstGeom prst="roundRect">
            <a:avLst/>
          </a:prstGeom>
          <a:solidFill>
            <a:srgbClr val="3A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17520" y="4572000"/>
            <a:ext cx="2926080" cy="457200"/>
          </a:xfrm>
          <a:prstGeom prst="rect">
            <a:avLst/>
          </a:prstGeom>
          <a:noFill/>
        </p:spPr>
        <p:txBody>
          <a:bodyPr wrap="none">
            <a:spAutoFit/>
          </a:bodyPr>
          <a:lstStyle/>
          <a:p>
            <a:pPr>
              <a:defRPr sz="2000" b="1">
                <a:solidFill>
                  <a:srgbClr val="FFFFFF"/>
                </a:solidFill>
                <a:latin typeface="Segoe UI"/>
              </a:defRPr>
            </a:pPr>
            <a:r>
              <a:t>Comprehensive Coverage</a:t>
            </a:r>
          </a:p>
        </p:txBody>
      </p:sp>
      <p:sp>
        <p:nvSpPr>
          <p:cNvPr id="14" name="TextBox 13"/>
          <p:cNvSpPr txBox="1"/>
          <p:nvPr/>
        </p:nvSpPr>
        <p:spPr>
          <a:xfrm>
            <a:off x="3017520" y="5120640"/>
            <a:ext cx="2926080" cy="1097280"/>
          </a:xfrm>
          <a:prstGeom prst="rect">
            <a:avLst/>
          </a:prstGeom>
          <a:noFill/>
        </p:spPr>
        <p:txBody>
          <a:bodyPr wrap="square">
            <a:spAutoFit/>
          </a:bodyPr>
          <a:lstStyle/>
          <a:p>
            <a:pPr>
              <a:defRPr sz="1300">
                <a:solidFill>
                  <a:srgbClr val="E0F0F5"/>
                </a:solidFill>
                <a:latin typeface="Segoe UI"/>
              </a:defRPr>
            </a:pPr>
            <a:r>
              <a:t>Code vulnerabilities, credential leaks, and supply chain risks — all covered in one integrated solution. No gaps in your security posture.</a:t>
            </a:r>
          </a:p>
        </p:txBody>
      </p:sp>
      <p:sp>
        <p:nvSpPr>
          <p:cNvPr id="15" name="Rounded Rectangle 14"/>
          <p:cNvSpPr/>
          <p:nvPr/>
        </p:nvSpPr>
        <p:spPr>
          <a:xfrm>
            <a:off x="6675120" y="4389120"/>
            <a:ext cx="3474720" cy="2011680"/>
          </a:xfrm>
          <a:prstGeom prst="round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9440" y="4572000"/>
            <a:ext cx="2926080" cy="457200"/>
          </a:xfrm>
          <a:prstGeom prst="rect">
            <a:avLst/>
          </a:prstGeom>
          <a:noFill/>
        </p:spPr>
        <p:txBody>
          <a:bodyPr wrap="none">
            <a:spAutoFit/>
          </a:bodyPr>
          <a:lstStyle/>
          <a:p>
            <a:pPr>
              <a:defRPr sz="2000" b="1">
                <a:solidFill>
                  <a:srgbClr val="FFFFFF"/>
                </a:solidFill>
                <a:latin typeface="Segoe UI"/>
              </a:defRPr>
            </a:pPr>
            <a:r>
              <a:t>Integrated Solution</a:t>
            </a:r>
          </a:p>
        </p:txBody>
      </p:sp>
      <p:sp>
        <p:nvSpPr>
          <p:cNvPr id="17" name="TextBox 16"/>
          <p:cNvSpPr txBox="1"/>
          <p:nvPr/>
        </p:nvSpPr>
        <p:spPr>
          <a:xfrm>
            <a:off x="6949440" y="5120640"/>
            <a:ext cx="2926080" cy="1097280"/>
          </a:xfrm>
          <a:prstGeom prst="rect">
            <a:avLst/>
          </a:prstGeom>
          <a:noFill/>
        </p:spPr>
        <p:txBody>
          <a:bodyPr wrap="square">
            <a:spAutoFit/>
          </a:bodyPr>
          <a:lstStyle/>
          <a:p>
            <a:pPr>
              <a:defRPr sz="1300">
                <a:solidFill>
                  <a:srgbClr val="E0F0F5"/>
                </a:solidFill>
                <a:latin typeface="Segoe UI"/>
              </a:defRPr>
            </a:pPr>
            <a:r>
              <a:t>A single platform for all security needs. Unified dashboards, consistent alerts, and centralized management across your organization.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4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097280"/>
            <a:ext cx="9418320" cy="914400"/>
          </a:xfrm>
          <a:prstGeom prst="rect">
            <a:avLst/>
          </a:prstGeom>
          <a:noFill/>
        </p:spPr>
        <p:txBody>
          <a:bodyPr wrap="none">
            <a:spAutoFit/>
          </a:bodyPr>
          <a:lstStyle/>
          <a:p>
            <a:pPr algn="ctr">
              <a:defRPr sz="4400" b="1">
                <a:solidFill>
                  <a:srgbClr val="FFFFFF"/>
                </a:solidFill>
                <a:latin typeface="Segoe UI"/>
              </a:defRPr>
            </a:pPr>
            <a:r>
              <a:t>Security at Every Stage</a:t>
            </a:r>
          </a:p>
        </p:txBody>
      </p:sp>
      <p:sp>
        <p:nvSpPr>
          <p:cNvPr id="4" name="Rectangle 3"/>
          <p:cNvSpPr/>
          <p:nvPr/>
        </p:nvSpPr>
        <p:spPr>
          <a:xfrm>
            <a:off x="4114800" y="2103120"/>
            <a:ext cx="3931920" cy="54864"/>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0" y="2560320"/>
            <a:ext cx="8503920" cy="2743200"/>
          </a:xfrm>
          <a:prstGeom prst="rect">
            <a:avLst/>
          </a:prstGeom>
          <a:noFill/>
        </p:spPr>
        <p:txBody>
          <a:bodyPr wrap="square">
            <a:spAutoFit/>
          </a:bodyPr>
          <a:lstStyle/>
          <a:p>
            <a:pPr>
              <a:spcAft>
                <a:spcPts val="1600"/>
              </a:spcAft>
              <a:defRPr sz="2000">
                <a:solidFill>
                  <a:srgbClr val="E0F0F5"/>
                </a:solidFill>
                <a:latin typeface="Segoe UI"/>
              </a:defRPr>
            </a:pPr>
            <a:r>
              <a:t>✓  Code Scanning — Find and fix vulnerabilities with CodeQL + Copilot Autofix</a:t>
            </a:r>
          </a:p>
          <a:p>
            <a:pPr>
              <a:spcAft>
                <a:spcPts val="1600"/>
              </a:spcAft>
              <a:defRPr sz="2000">
                <a:solidFill>
                  <a:srgbClr val="E0F0F5"/>
                </a:solidFill>
                <a:latin typeface="Segoe UI"/>
              </a:defRPr>
            </a:pPr>
            <a:r>
              <a:t>✓  Secret Scanning — Detect and prevent credential leaks with Push Protection</a:t>
            </a:r>
          </a:p>
          <a:p>
            <a:pPr>
              <a:spcAft>
                <a:spcPts val="1600"/>
              </a:spcAft>
              <a:defRPr sz="2000">
                <a:solidFill>
                  <a:srgbClr val="E0F0F5"/>
                </a:solidFill>
                <a:latin typeface="Segoe UI"/>
              </a:defRPr>
            </a:pPr>
            <a:r>
              <a:t>✓  Dependency Review — Secure your supply chain before merging</a:t>
            </a:r>
          </a:p>
          <a:p>
            <a:pPr>
              <a:spcAft>
                <a:spcPts val="1600"/>
              </a:spcAft>
              <a:defRPr sz="2000">
                <a:solidFill>
                  <a:srgbClr val="E0F0F5"/>
                </a:solidFill>
                <a:latin typeface="Segoe UI"/>
              </a:defRPr>
            </a:pPr>
            <a:r>
              <a:t>✓  Workflow Integration — Seamless, automated, zero context-switching</a:t>
            </a:r>
          </a:p>
          <a:p>
            <a:pPr>
              <a:spcAft>
                <a:spcPts val="1600"/>
              </a:spcAft>
              <a:defRPr sz="2000">
                <a:solidFill>
                  <a:srgbClr val="E0F0F5"/>
                </a:solidFill>
                <a:latin typeface="Segoe UI"/>
              </a:defRPr>
            </a:pPr>
            <a:r>
              <a:t>✓  Shift Left — Comprehensive coverage that reduces friction and catches issues early</a:t>
            </a:r>
          </a:p>
        </p:txBody>
      </p:sp>
      <p:sp>
        <p:nvSpPr>
          <p:cNvPr id="6" name="TextBox 5"/>
          <p:cNvSpPr txBox="1"/>
          <p:nvPr/>
        </p:nvSpPr>
        <p:spPr>
          <a:xfrm>
            <a:off x="1828800" y="5120640"/>
            <a:ext cx="8503920" cy="731520"/>
          </a:xfrm>
          <a:prstGeom prst="rect">
            <a:avLst/>
          </a:prstGeom>
          <a:noFill/>
        </p:spPr>
        <p:txBody>
          <a:bodyPr wrap="none">
            <a:spAutoFit/>
          </a:bodyPr>
          <a:lstStyle/>
          <a:p>
            <a:pPr algn="ctr">
              <a:defRPr sz="2400" i="1">
                <a:solidFill>
                  <a:srgbClr val="29B6F6"/>
                </a:solidFill>
                <a:latin typeface="Segoe UI"/>
              </a:defRPr>
            </a:pPr>
            <a:r>
              <a:t>Shift left. Secure early. Ship with confidence.</a:t>
            </a:r>
          </a:p>
        </p:txBody>
      </p:sp>
      <p:sp>
        <p:nvSpPr>
          <p:cNvPr id="7" name="TextBox 6"/>
          <p:cNvSpPr txBox="1"/>
          <p:nvPr/>
        </p:nvSpPr>
        <p:spPr>
          <a:xfrm>
            <a:off x="1828800" y="5852160"/>
            <a:ext cx="8503920" cy="457200"/>
          </a:xfrm>
          <a:prstGeom prst="rect">
            <a:avLst/>
          </a:prstGeom>
          <a:noFill/>
        </p:spPr>
        <p:txBody>
          <a:bodyPr wrap="none">
            <a:spAutoFit/>
          </a:bodyPr>
          <a:lstStyle/>
          <a:p>
            <a:pPr algn="ctr">
              <a:defRPr sz="1600">
                <a:solidFill>
                  <a:srgbClr val="99BBCC"/>
                </a:solidFill>
                <a:latin typeface="Segoe UI"/>
              </a:defRPr>
            </a:pPr>
            <a:r>
              <a:t>Learn more: github.com/features/security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1307</Words>
  <Application>Microsoft Office PowerPoint</Application>
  <PresentationFormat>Widescreen</PresentationFormat>
  <Paragraphs>129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Saurabh Talwar</cp:lastModifiedBy>
  <cp:revision>2</cp:revision>
  <dcterms:created xsi:type="dcterms:W3CDTF">2013-01-27T09:14:16Z</dcterms:created>
  <dcterms:modified xsi:type="dcterms:W3CDTF">2026-03-18T17:59:32Z</dcterms:modified>
  <cp:category/>
</cp:coreProperties>
</file>